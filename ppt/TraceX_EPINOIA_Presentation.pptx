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judges. We are Team Thunderbytes presenting TraceX for EPINOIA at Atharv Ranbhoomi, IIM Indore. TraceX is a digital cyber intelligence operations room engineered for law enforcement to cut evidence correlation time from 48 hours to under 3 minutes during the critical Golden Hour.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financial cyber fraud, the first 2 hours are the Golden Hour. When an officer receives a complaint, the evidence is scattered across Excel sheets from multiple banks and raw CDR logs. Sifting through them manually takes days, by which time fraudsters have already withdrawn the money. Isolated police stations also cannot see cross-district syndicates.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TraceX replaces manual spreadsheets with a single, intelligent operations console. It extracts entities automatically, builds a multi-hop correlation graph, calculates threat scores, and generates legal freeze directives in under three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simple, logical flow. First, raw telecom and bank files are uploaded and standardized. Second, our NetworkX engine builds an entity correlation graph. Third, multi-factor risk heuristics score the severity. Finally, the officer interacts with the visual graph and exports court-admissible legal orders.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single feature shown here is completely functional in our repository. We built real ingestion parsers, an interactive graph visualization, heuristic risk scoring, and automated PDF generators for statutory police orders.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follows a clean linear pipeline: React frontend communicates with a FastAPI server, which invokes NetworkX and Pandas for sub-second correlation, with ReportLab generating tamper-evident PDF dossiers.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generic prototypes, TraceX was built for the ground realities of Indian police work. We don't ask officers to change their evidence formats. Our AI never hallucinates in court because it is strictly grounded in evidence with offline fallback. And most importantly, we bridge the gap between intelligence and legal action through automated statutory freeze directives.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team, Thunderbytes, brings together frontend architecture, backend systems, and cyber forensic research. Led by Ankit Tank, Krishna Prajapat architected the frontend, Avnish Sharma engineered the graph backend, and Tarun Pandya implemented the statutory legal report generators.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esteemed jury. TraceX is live and ready for testing with our pre-seeded officer credentials. You can inspect our open-source codebase on GitHub and watch our video walkthrough. We look forward to advancing to the offline finale at IIM Indore!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822960"/>
            <a:ext cx="6217920" cy="365760"/>
          </a:xfrm>
          <a:prstGeom prst="roundRect">
            <a:avLst/>
          </a:prstGeom>
          <a:solidFill>
            <a:srgbClr val="10203A"/>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D4FF"/>
                </a:solidFill>
              </a:defRPr>
            </a:pPr>
            <a:r>
              <a:t>EPINOIA 2026  •  FLAGSHIP HACKATHON  •  ATHARV RANBHOOMI, IIM INDORE</a:t>
            </a:r>
          </a:p>
        </p:txBody>
      </p:sp>
      <p:sp>
        <p:nvSpPr>
          <p:cNvPr id="4" name="TextBox 3"/>
          <p:cNvSpPr txBox="1"/>
          <p:nvPr/>
        </p:nvSpPr>
        <p:spPr>
          <a:xfrm>
            <a:off x="822960" y="1463040"/>
            <a:ext cx="7315200" cy="1097280"/>
          </a:xfrm>
          <a:prstGeom prst="rect">
            <a:avLst/>
          </a:prstGeom>
          <a:noFill/>
        </p:spPr>
        <p:txBody>
          <a:bodyPr wrap="none">
            <a:spAutoFit/>
          </a:bodyPr>
          <a:lstStyle/>
          <a:p>
            <a:pPr>
              <a:defRPr sz="5600" b="1">
                <a:solidFill>
                  <a:srgbClr val="FFFFFF"/>
                </a:solidFill>
                <a:latin typeface="Arial"/>
              </a:defRPr>
            </a:pPr>
            <a:r>
              <a:t>TraceX</a:t>
            </a:r>
          </a:p>
        </p:txBody>
      </p:sp>
      <p:sp>
        <p:nvSpPr>
          <p:cNvPr id="5" name="TextBox 4"/>
          <p:cNvSpPr txBox="1"/>
          <p:nvPr/>
        </p:nvSpPr>
        <p:spPr>
          <a:xfrm>
            <a:off x="822960" y="2468880"/>
            <a:ext cx="7315200" cy="548640"/>
          </a:xfrm>
          <a:prstGeom prst="rect">
            <a:avLst/>
          </a:prstGeom>
          <a:noFill/>
        </p:spPr>
        <p:txBody>
          <a:bodyPr wrap="none">
            <a:spAutoFit/>
          </a:bodyPr>
          <a:lstStyle/>
          <a:p>
            <a:pPr>
              <a:defRPr sz="1800" b="1">
                <a:solidFill>
                  <a:srgbClr val="7DE3FF"/>
                </a:solidFill>
                <a:latin typeface="Arial"/>
              </a:defRPr>
            </a:pPr>
            <a:r>
              <a:t>AI-Powered Cyber Fraud Intelligence &amp; Correlation Console</a:t>
            </a:r>
          </a:p>
        </p:txBody>
      </p:sp>
      <p:sp>
        <p:nvSpPr>
          <p:cNvPr id="6" name="TextBox 5"/>
          <p:cNvSpPr txBox="1"/>
          <p:nvPr/>
        </p:nvSpPr>
        <p:spPr>
          <a:xfrm>
            <a:off x="822960" y="3063240"/>
            <a:ext cx="7132320" cy="1097280"/>
          </a:xfrm>
          <a:prstGeom prst="rect">
            <a:avLst/>
          </a:prstGeom>
          <a:noFill/>
        </p:spPr>
        <p:txBody>
          <a:bodyPr wrap="square">
            <a:spAutoFit/>
          </a:bodyPr>
          <a:lstStyle/>
          <a:p>
            <a:pPr>
              <a:defRPr sz="1250">
                <a:solidFill>
                  <a:srgbClr val="DAE4F0"/>
                </a:solidFill>
                <a:latin typeface="Arial"/>
              </a:defRPr>
            </a:pPr>
            <a:r>
              <a:t>Empowering police investigating officers to connect disparate telecom, banking, and digital evidence within minutes—stopping illicit fund transfers during the critical Golden Hour.</a:t>
            </a:r>
          </a:p>
        </p:txBody>
      </p:sp>
      <p:sp>
        <p:nvSpPr>
          <p:cNvPr id="7" name="Rounded Rectangle 6"/>
          <p:cNvSpPr/>
          <p:nvPr/>
        </p:nvSpPr>
        <p:spPr>
          <a:xfrm>
            <a:off x="8412480" y="1188720"/>
            <a:ext cx="2926080" cy="3474720"/>
          </a:xfrm>
          <a:prstGeom prst="roundRect">
            <a:avLst/>
          </a:prstGeom>
          <a:solidFill>
            <a:srgbClr val="0F172A"/>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tharv_ranbhoomi_logo.png"/>
          <p:cNvPicPr>
            <a:picLocks noChangeAspect="1"/>
          </p:cNvPicPr>
          <p:nvPr/>
        </p:nvPicPr>
        <p:blipFill>
          <a:blip r:embed="rId2"/>
          <a:stretch>
            <a:fillRect/>
          </a:stretch>
        </p:blipFill>
        <p:spPr>
          <a:xfrm>
            <a:off x="8732520" y="1371600"/>
            <a:ext cx="2286000" cy="2286000"/>
          </a:xfrm>
          <a:prstGeom prst="rect">
            <a:avLst/>
          </a:prstGeom>
        </p:spPr>
      </p:pic>
      <p:sp>
        <p:nvSpPr>
          <p:cNvPr id="9" name="TextBox 8"/>
          <p:cNvSpPr txBox="1"/>
          <p:nvPr/>
        </p:nvSpPr>
        <p:spPr>
          <a:xfrm>
            <a:off x="8412480" y="3749039"/>
            <a:ext cx="2926080" cy="731520"/>
          </a:xfrm>
          <a:prstGeom prst="rect">
            <a:avLst/>
          </a:prstGeom>
          <a:noFill/>
        </p:spPr>
        <p:txBody>
          <a:bodyPr wrap="none">
            <a:spAutoFit/>
          </a:bodyPr>
          <a:lstStyle/>
          <a:p>
            <a:pPr algn="ctr">
              <a:defRPr sz="1300" b="1">
                <a:solidFill>
                  <a:srgbClr val="FFFFFF"/>
                </a:solidFill>
              </a:defRPr>
            </a:pPr>
            <a:r>
              <a:t>Atharv Ranbhoomi '26</a:t>
            </a:r>
          </a:p>
          <a:p>
            <a:pPr algn="ctr">
              <a:defRPr sz="1000">
                <a:solidFill>
                  <a:srgbClr val="00D4FF"/>
                </a:solidFill>
              </a:defRPr>
            </a:pPr>
            <a:r>
              <a:t>IIM Indore  •  Round 1 Qualifier</a:t>
            </a:r>
          </a:p>
        </p:txBody>
      </p:sp>
      <p:sp>
        <p:nvSpPr>
          <p:cNvPr id="10" name="Rounded Rectangle 9"/>
          <p:cNvSpPr/>
          <p:nvPr/>
        </p:nvSpPr>
        <p:spPr>
          <a:xfrm>
            <a:off x="822960" y="5029200"/>
            <a:ext cx="10515600" cy="118872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120640"/>
            <a:ext cx="10149840" cy="1005840"/>
          </a:xfrm>
          <a:prstGeom prst="rect">
            <a:avLst/>
          </a:prstGeom>
          <a:noFill/>
        </p:spPr>
        <p:txBody>
          <a:bodyPr wrap="square">
            <a:spAutoFit/>
          </a:bodyPr>
          <a:lstStyle/>
          <a:p>
            <a:pPr>
              <a:defRPr sz="1100" b="1">
                <a:solidFill>
                  <a:srgbClr val="00D4FF"/>
                </a:solidFill>
              </a:defRPr>
            </a:pPr>
            <a:r>
              <a:t>PRESENTED BY TEAM THUNDERBYTES  •  SHRI VAISHNAV VIDYAPEETH VISHWAVIDYALAYA (SVVV), INDORE</a:t>
            </a:r>
          </a:p>
          <a:p>
            <a:pPr>
              <a:defRPr sz="1050">
                <a:solidFill>
                  <a:srgbClr val="DAE4F0"/>
                </a:solidFill>
              </a:defRPr>
            </a:pPr>
            <a:r>
              <a:t>Ankit Tank (Leader)  |  Krishna Prajapat (Architect)  |  Avnish Sharma (Backend)  |  Tarun Pandya (Forensics)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7772400" cy="274320"/>
          </a:xfrm>
          <a:prstGeom prst="rect">
            <a:avLst/>
          </a:prstGeom>
          <a:noFill/>
        </p:spPr>
        <p:txBody>
          <a:bodyPr wrap="none">
            <a:spAutoFit/>
          </a:bodyPr>
          <a:lstStyle/>
          <a:p>
            <a:pPr>
              <a:defRPr sz="1000" b="1">
                <a:solidFill>
                  <a:srgbClr val="00D4FF"/>
                </a:solidFill>
                <a:latin typeface="Arial"/>
              </a:defRPr>
            </a:pPr>
            <a:r>
              <a:t>THE REAL-WORLD CHALLENGE</a:t>
            </a:r>
          </a:p>
        </p:txBody>
      </p:sp>
      <p:sp>
        <p:nvSpPr>
          <p:cNvPr id="4" name="TextBox 3"/>
          <p:cNvSpPr txBox="1"/>
          <p:nvPr/>
        </p:nvSpPr>
        <p:spPr>
          <a:xfrm>
            <a:off x="822960" y="658368"/>
            <a:ext cx="8686800" cy="548640"/>
          </a:xfrm>
          <a:prstGeom prst="rect">
            <a:avLst/>
          </a:prstGeom>
          <a:noFill/>
        </p:spPr>
        <p:txBody>
          <a:bodyPr wrap="none">
            <a:spAutoFit/>
          </a:bodyPr>
          <a:lstStyle/>
          <a:p>
            <a:pPr>
              <a:defRPr sz="2200" b="1">
                <a:solidFill>
                  <a:srgbClr val="FFFFFF"/>
                </a:solidFill>
                <a:latin typeface="Arial"/>
              </a:defRPr>
            </a:pPr>
            <a:r>
              <a:t>Why Investigating Cyber Fraud Takes Days Instead of Hours</a:t>
            </a:r>
          </a:p>
        </p:txBody>
      </p:sp>
      <p:sp>
        <p:nvSpPr>
          <p:cNvPr id="5" name="TextBox 4"/>
          <p:cNvSpPr txBox="1"/>
          <p:nvPr/>
        </p:nvSpPr>
        <p:spPr>
          <a:xfrm>
            <a:off x="9144000" y="411480"/>
            <a:ext cx="2194560" cy="365760"/>
          </a:xfrm>
          <a:prstGeom prst="rect">
            <a:avLst/>
          </a:prstGeom>
          <a:noFill/>
        </p:spPr>
        <p:txBody>
          <a:bodyPr wrap="none">
            <a:spAutoFit/>
          </a:bodyPr>
          <a:lstStyle/>
          <a:p>
            <a:pPr algn="r">
              <a:defRPr sz="1000" b="1">
                <a:solidFill>
                  <a:srgbClr val="94A3B8"/>
                </a:solidFill>
                <a:latin typeface="Arial"/>
              </a:defRPr>
            </a:pPr>
            <a:r>
              <a:t>EPINOIA '26  •  02 / 09</a:t>
            </a:r>
          </a:p>
        </p:txBody>
      </p:sp>
      <p:sp>
        <p:nvSpPr>
          <p:cNvPr id="6" name="Rounded Rectangle 5"/>
          <p:cNvSpPr/>
          <p:nvPr/>
        </p:nvSpPr>
        <p:spPr>
          <a:xfrm>
            <a:off x="822960" y="1463040"/>
            <a:ext cx="3291840" cy="466344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2926080" cy="4297680"/>
          </a:xfrm>
          <a:prstGeom prst="rect">
            <a:avLst/>
          </a:prstGeom>
          <a:noFill/>
        </p:spPr>
        <p:txBody>
          <a:bodyPr wrap="square">
            <a:spAutoFit/>
          </a:bodyPr>
          <a:lstStyle/>
          <a:p>
            <a:pPr>
              <a:defRPr sz="1300" b="1">
                <a:solidFill>
                  <a:srgbClr val="F43F5E"/>
                </a:solidFill>
              </a:defRPr>
            </a:pPr>
            <a:r>
              <a:t>1. FRAGMENTED EVIDENCE</a:t>
            </a:r>
          </a:p>
          <a:p>
            <a:br/>
            <a:pPr>
              <a:defRPr sz="1100" b="1">
                <a:solidFill>
                  <a:srgbClr val="FFFFFF"/>
                </a:solidFill>
              </a:defRPr>
            </a:pPr>
            <a:r>
              <a:t>▸ Multi-Vendor Formats</a:t>
            </a:r>
          </a:p>
          <a:p>
            <a:pPr>
              <a:defRPr sz="1000">
                <a:solidFill>
                  <a:srgbClr val="DAE4F0"/>
                </a:solidFill>
              </a:defRPr>
            </a:pPr>
            <a:r>
              <a:t>Officers receive raw Excel sheets from 10+ different banks, plain text CDR/IPDR dumps from telcos, and .eml email logs.</a:t>
            </a:r>
          </a:p>
          <a:p>
            <a:br/>
            <a:pPr>
              <a:defRPr sz="1100" b="1">
                <a:solidFill>
                  <a:srgbClr val="FFFFFF"/>
                </a:solidFill>
              </a:defRPr>
            </a:pPr>
            <a:r>
              <a:t>▸ Manual Spreadsheet Checks</a:t>
            </a:r>
          </a:p>
          <a:p>
            <a:pPr>
              <a:defRPr sz="1000">
                <a:solidFill>
                  <a:srgbClr val="DAE4F0"/>
                </a:solidFill>
              </a:defRPr>
            </a:pPr>
            <a:r>
              <a:t>Investigating Officers spend hours running VLOOKUPs across 10,000+ transaction rows by hand.</a:t>
            </a:r>
          </a:p>
          <a:p>
            <a:br/>
            <a:pPr>
              <a:defRPr sz="1100" b="1">
                <a:solidFill>
                  <a:srgbClr val="FFFFFF"/>
                </a:solidFill>
              </a:defRPr>
            </a:pPr>
            <a:r>
              <a:t>▸ Zero Interoperability</a:t>
            </a:r>
          </a:p>
          <a:p>
            <a:pPr>
              <a:defRPr sz="1000">
                <a:solidFill>
                  <a:srgbClr val="DAE4F0"/>
                </a:solidFill>
              </a:defRPr>
            </a:pPr>
            <a:r>
              <a:t>No standard schema connects cellular tower coordinates, bank transactions, and UPI handles.</a:t>
            </a:r>
          </a:p>
        </p:txBody>
      </p:sp>
      <p:sp>
        <p:nvSpPr>
          <p:cNvPr id="8" name="Rounded Rectangle 7"/>
          <p:cNvSpPr/>
          <p:nvPr/>
        </p:nvSpPr>
        <p:spPr>
          <a:xfrm>
            <a:off x="4480560" y="1463040"/>
            <a:ext cx="3291840" cy="466344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645920"/>
            <a:ext cx="2926080" cy="4297680"/>
          </a:xfrm>
          <a:prstGeom prst="rect">
            <a:avLst/>
          </a:prstGeom>
          <a:noFill/>
        </p:spPr>
        <p:txBody>
          <a:bodyPr wrap="square">
            <a:spAutoFit/>
          </a:bodyPr>
          <a:lstStyle/>
          <a:p>
            <a:pPr>
              <a:defRPr sz="1300" b="1">
                <a:solidFill>
                  <a:srgbClr val="F59E0B"/>
                </a:solidFill>
              </a:defRPr>
            </a:pPr>
            <a:r>
              <a:t>2. THE LOST GOLDEN HOUR</a:t>
            </a:r>
          </a:p>
          <a:p>
            <a:br/>
            <a:pPr>
              <a:defRPr sz="1100" b="1">
                <a:solidFill>
                  <a:srgbClr val="FFFFFF"/>
                </a:solidFill>
              </a:defRPr>
            </a:pPr>
            <a:r>
              <a:t>▸ Rapid Fund Layering</a:t>
            </a:r>
          </a:p>
          <a:p>
            <a:pPr>
              <a:defRPr sz="1000">
                <a:solidFill>
                  <a:srgbClr val="DAE4F0"/>
                </a:solidFill>
              </a:defRPr>
            </a:pPr>
            <a:r>
              <a:t>Stolen money is routed through 4 to 6 mule accounts and withdrawn at ATMs within 45 minutes of the crime.</a:t>
            </a:r>
          </a:p>
          <a:p>
            <a:br/>
            <a:pPr>
              <a:defRPr sz="1100" b="1">
                <a:solidFill>
                  <a:srgbClr val="FFFFFF"/>
                </a:solidFill>
              </a:defRPr>
            </a:pPr>
            <a:r>
              <a:t>▸ 48-Hour Delay</a:t>
            </a:r>
          </a:p>
          <a:p>
            <a:pPr>
              <a:defRPr sz="1000">
                <a:solidFill>
                  <a:srgbClr val="DAE4F0"/>
                </a:solidFill>
              </a:defRPr>
            </a:pPr>
            <a:r>
              <a:t>Manual spreadsheet analysis takes 24 to 72 hours. By the time links are spotted, accounts are empty.</a:t>
            </a:r>
          </a:p>
          <a:p>
            <a:br/>
            <a:pPr>
              <a:defRPr sz="1100" b="1">
                <a:solidFill>
                  <a:srgbClr val="FFFFFF"/>
                </a:solidFill>
              </a:defRPr>
            </a:pPr>
            <a:r>
              <a:t>▸ Disposable Infrastructure</a:t>
            </a:r>
          </a:p>
          <a:p>
            <a:pPr>
              <a:defRPr sz="1000">
                <a:solidFill>
                  <a:srgbClr val="DAE4F0"/>
                </a:solidFill>
              </a:defRPr>
            </a:pPr>
            <a:r>
              <a:t>Fraudsters quickly abandon burner SIMs and temporary VPAs, leaving cold trails.</a:t>
            </a:r>
          </a:p>
        </p:txBody>
      </p:sp>
      <p:sp>
        <p:nvSpPr>
          <p:cNvPr id="10" name="Rounded Rectangle 9"/>
          <p:cNvSpPr/>
          <p:nvPr/>
        </p:nvSpPr>
        <p:spPr>
          <a:xfrm>
            <a:off x="8138160" y="1463040"/>
            <a:ext cx="3291840" cy="466344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645920"/>
            <a:ext cx="2926080" cy="4297680"/>
          </a:xfrm>
          <a:prstGeom prst="rect">
            <a:avLst/>
          </a:prstGeom>
          <a:noFill/>
        </p:spPr>
        <p:txBody>
          <a:bodyPr wrap="square">
            <a:spAutoFit/>
          </a:bodyPr>
          <a:lstStyle/>
          <a:p>
            <a:pPr>
              <a:defRPr sz="1300" b="1">
                <a:solidFill>
                  <a:srgbClr val="939CFA"/>
                </a:solidFill>
              </a:defRPr>
            </a:pPr>
            <a:r>
              <a:t>3. CROSS-CASE BLIND SPOTS</a:t>
            </a:r>
          </a:p>
          <a:p>
            <a:br/>
            <a:pPr>
              <a:defRPr sz="1100" b="1">
                <a:solidFill>
                  <a:srgbClr val="FFFFFF"/>
                </a:solidFill>
              </a:defRPr>
            </a:pPr>
            <a:r>
              <a:t>▸ Organized Syndicates</a:t>
            </a:r>
          </a:p>
          <a:p>
            <a:pPr>
              <a:defRPr sz="1000">
                <a:solidFill>
                  <a:srgbClr val="DAE4F0"/>
                </a:solidFill>
              </a:defRPr>
            </a:pPr>
            <a:r>
              <a:t>The same mule account or burner phone is frequently active across 15+ FIRs in multiple districts simultaneously.</a:t>
            </a:r>
          </a:p>
          <a:p>
            <a:br/>
            <a:pPr>
              <a:defRPr sz="1100" b="1">
                <a:solidFill>
                  <a:srgbClr val="FFFFFF"/>
                </a:solidFill>
              </a:defRPr>
            </a:pPr>
            <a:r>
              <a:t>▸ Station-Level Silos</a:t>
            </a:r>
          </a:p>
          <a:p>
            <a:pPr>
              <a:defRPr sz="1000">
                <a:solidFill>
                  <a:srgbClr val="DAE4F0"/>
                </a:solidFill>
              </a:defRPr>
            </a:pPr>
            <a:r>
              <a:t>A police cyber cell in Bhopal has no automated way to know that Indore Police is tracking the exact same IMEI device.</a:t>
            </a:r>
          </a:p>
          <a:p>
            <a:br/>
            <a:pPr>
              <a:defRPr sz="1100" b="1">
                <a:solidFill>
                  <a:srgbClr val="FFFFFF"/>
                </a:solidFill>
              </a:defRPr>
            </a:pPr>
            <a:r>
              <a:t>▸ Officer Burnout</a:t>
            </a:r>
          </a:p>
          <a:p>
            <a:pPr>
              <a:defRPr sz="1000">
                <a:solidFill>
                  <a:srgbClr val="DAE4F0"/>
                </a:solidFill>
              </a:defRPr>
            </a:pPr>
            <a:r>
              <a:t>Hundreds of new complaints flood in daily on the 1930 portal with limited specialized cyber personnel.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7772400" cy="274320"/>
          </a:xfrm>
          <a:prstGeom prst="rect">
            <a:avLst/>
          </a:prstGeom>
          <a:noFill/>
        </p:spPr>
        <p:txBody>
          <a:bodyPr wrap="none">
            <a:spAutoFit/>
          </a:bodyPr>
          <a:lstStyle/>
          <a:p>
            <a:pPr>
              <a:defRPr sz="1000" b="1">
                <a:solidFill>
                  <a:srgbClr val="00D4FF"/>
                </a:solidFill>
                <a:latin typeface="Arial"/>
              </a:defRPr>
            </a:pPr>
            <a:r>
              <a:t>OUR SOLUTION</a:t>
            </a:r>
          </a:p>
        </p:txBody>
      </p:sp>
      <p:sp>
        <p:nvSpPr>
          <p:cNvPr id="4" name="TextBox 3"/>
          <p:cNvSpPr txBox="1"/>
          <p:nvPr/>
        </p:nvSpPr>
        <p:spPr>
          <a:xfrm>
            <a:off x="822960" y="658368"/>
            <a:ext cx="8686800" cy="548640"/>
          </a:xfrm>
          <a:prstGeom prst="rect">
            <a:avLst/>
          </a:prstGeom>
          <a:noFill/>
        </p:spPr>
        <p:txBody>
          <a:bodyPr wrap="none">
            <a:spAutoFit/>
          </a:bodyPr>
          <a:lstStyle/>
          <a:p>
            <a:pPr>
              <a:defRPr sz="2200" b="1">
                <a:solidFill>
                  <a:srgbClr val="FFFFFF"/>
                </a:solidFill>
                <a:latin typeface="Arial"/>
              </a:defRPr>
            </a:pPr>
            <a:r>
              <a:t>TraceX: A Unified Operations Console for Law Enforcement</a:t>
            </a:r>
          </a:p>
        </p:txBody>
      </p:sp>
      <p:sp>
        <p:nvSpPr>
          <p:cNvPr id="5" name="TextBox 4"/>
          <p:cNvSpPr txBox="1"/>
          <p:nvPr/>
        </p:nvSpPr>
        <p:spPr>
          <a:xfrm>
            <a:off x="9144000" y="411480"/>
            <a:ext cx="2194560" cy="365760"/>
          </a:xfrm>
          <a:prstGeom prst="rect">
            <a:avLst/>
          </a:prstGeom>
          <a:noFill/>
        </p:spPr>
        <p:txBody>
          <a:bodyPr wrap="none">
            <a:spAutoFit/>
          </a:bodyPr>
          <a:lstStyle/>
          <a:p>
            <a:pPr algn="r">
              <a:defRPr sz="1000" b="1">
                <a:solidFill>
                  <a:srgbClr val="94A3B8"/>
                </a:solidFill>
                <a:latin typeface="Arial"/>
              </a:defRPr>
            </a:pPr>
            <a:r>
              <a:t>EPINOIA '26  •  03 / 09</a:t>
            </a:r>
          </a:p>
        </p:txBody>
      </p:sp>
      <p:sp>
        <p:nvSpPr>
          <p:cNvPr id="6" name="Rounded Rectangle 5"/>
          <p:cNvSpPr/>
          <p:nvPr/>
        </p:nvSpPr>
        <p:spPr>
          <a:xfrm>
            <a:off x="822960" y="1463040"/>
            <a:ext cx="6217920" cy="219456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645920"/>
            <a:ext cx="5760720" cy="1828800"/>
          </a:xfrm>
          <a:prstGeom prst="rect">
            <a:avLst/>
          </a:prstGeom>
          <a:noFill/>
        </p:spPr>
        <p:txBody>
          <a:bodyPr wrap="square">
            <a:spAutoFit/>
          </a:bodyPr>
          <a:lstStyle/>
          <a:p>
            <a:pPr>
              <a:defRPr sz="1300" b="1">
                <a:solidFill>
                  <a:srgbClr val="00D4FF"/>
                </a:solidFill>
              </a:defRPr>
            </a:pPr>
            <a:r>
              <a:t>1. INGESTION TO CORRELATION IN MINUTES</a:t>
            </a:r>
          </a:p>
          <a:p>
            <a:br/>
            <a:pPr>
              <a:defRPr sz="1100">
                <a:solidFill>
                  <a:srgbClr val="DAE4F0"/>
                </a:solidFill>
              </a:defRPr>
            </a:pPr>
            <a:r>
              <a:t>TraceX ingests messy, real-world evidence—CDRs, bank account sheets, UPI logs, IPDR dumps, and email headers. Our automated normalization pipeline standardizes and links all entities on an interactive visual graph in seconds.</a:t>
            </a:r>
          </a:p>
        </p:txBody>
      </p:sp>
      <p:sp>
        <p:nvSpPr>
          <p:cNvPr id="8" name="Rounded Rectangle 7"/>
          <p:cNvSpPr/>
          <p:nvPr/>
        </p:nvSpPr>
        <p:spPr>
          <a:xfrm>
            <a:off x="822960" y="3931920"/>
            <a:ext cx="6217920" cy="219456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114800"/>
            <a:ext cx="5760720" cy="1828800"/>
          </a:xfrm>
          <a:prstGeom prst="rect">
            <a:avLst/>
          </a:prstGeom>
          <a:noFill/>
        </p:spPr>
        <p:txBody>
          <a:bodyPr wrap="square">
            <a:spAutoFit/>
          </a:bodyPr>
          <a:lstStyle/>
          <a:p>
            <a:pPr>
              <a:defRPr sz="1300" b="1">
                <a:solidFill>
                  <a:srgbClr val="10B981"/>
                </a:solidFill>
              </a:defRPr>
            </a:pPr>
            <a:r>
              <a:t>2. GROUNDED AI &amp; STATUTORY FREEZE DIRECTIVES</a:t>
            </a:r>
          </a:p>
          <a:p>
            <a:br/>
            <a:pPr>
              <a:defRPr sz="1100">
                <a:solidFill>
                  <a:srgbClr val="DAE4F0"/>
                </a:solidFill>
              </a:defRPr>
            </a:pPr>
            <a:r>
              <a:t>Combines an evidence-grounded AI Co-pilot with automated PDF generators that produce court-ready Section 91 CrPC Bank Debit-Freeze notices and Section 69A IT Act Emergency Takedowns with tamper-evident SHA-256 cryptographic verification.</a:t>
            </a:r>
          </a:p>
        </p:txBody>
      </p:sp>
      <p:sp>
        <p:nvSpPr>
          <p:cNvPr id="10" name="Rounded Rectangle 9"/>
          <p:cNvSpPr/>
          <p:nvPr/>
        </p:nvSpPr>
        <p:spPr>
          <a:xfrm>
            <a:off x="7406640" y="1463040"/>
            <a:ext cx="3931920" cy="4663440"/>
          </a:xfrm>
          <a:prstGeom prst="roundRect">
            <a:avLst/>
          </a:prstGeom>
          <a:solidFill>
            <a:srgbClr val="0E1728"/>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1691640"/>
            <a:ext cx="3474720" cy="4206240"/>
          </a:xfrm>
          <a:prstGeom prst="rect">
            <a:avLst/>
          </a:prstGeom>
          <a:noFill/>
        </p:spPr>
        <p:txBody>
          <a:bodyPr wrap="square">
            <a:spAutoFit/>
          </a:bodyPr>
          <a:lstStyle/>
          <a:p>
            <a:pPr>
              <a:defRPr sz="1300" b="1">
                <a:solidFill>
                  <a:srgbClr val="FFFFFF"/>
                </a:solidFill>
              </a:defRPr>
            </a:pPr>
            <a:r>
              <a:t>OPERATIONAL IMPACT</a:t>
            </a:r>
          </a:p>
          <a:p>
            <a:br/>
            <a:pPr>
              <a:defRPr sz="1100" b="1">
                <a:solidFill>
                  <a:srgbClr val="7DE3FF"/>
                </a:solidFill>
              </a:defRPr>
            </a:pPr>
            <a:r>
              <a:t>▸ From 48h to 3m</a:t>
            </a:r>
          </a:p>
          <a:p>
            <a:pPr>
              <a:defRPr sz="1000">
                <a:solidFill>
                  <a:srgbClr val="DAE4F0"/>
                </a:solidFill>
              </a:defRPr>
            </a:pPr>
            <a:r>
              <a:t>Case triage and entity correlation accelerated by 95% within the Golden Hour.</a:t>
            </a:r>
          </a:p>
          <a:p>
            <a:br/>
            <a:pPr>
              <a:defRPr sz="1100" b="1">
                <a:solidFill>
                  <a:srgbClr val="7DE3FF"/>
                </a:solidFill>
              </a:defRPr>
            </a:pPr>
            <a:r>
              <a:t>▸ 100% Schema Agnostic</a:t>
            </a:r>
          </a:p>
          <a:p>
            <a:pPr>
              <a:defRPr sz="1000">
                <a:solidFill>
                  <a:srgbClr val="DAE4F0"/>
                </a:solidFill>
              </a:defRPr>
            </a:pPr>
            <a:r>
              <a:t>Parses telecom and banking files without requiring departments to change formats.</a:t>
            </a:r>
          </a:p>
          <a:p>
            <a:br/>
            <a:pPr>
              <a:defRPr sz="1100" b="1">
                <a:solidFill>
                  <a:srgbClr val="7DE3FF"/>
                </a:solidFill>
              </a:defRPr>
            </a:pPr>
            <a:r>
              <a:t>▸ Cross-Case Alerts</a:t>
            </a:r>
          </a:p>
          <a:p>
            <a:pPr>
              <a:defRPr sz="1000">
                <a:solidFill>
                  <a:srgbClr val="DAE4F0"/>
                </a:solidFill>
              </a:defRPr>
            </a:pPr>
            <a:r>
              <a:t>Instantly highlights when a suspect account is tied to multiple police FIRs.</a:t>
            </a:r>
          </a:p>
          <a:p>
            <a:br/>
            <a:pPr>
              <a:defRPr sz="1100" b="1">
                <a:solidFill>
                  <a:srgbClr val="7DE3FF"/>
                </a:solidFill>
              </a:defRPr>
            </a:pPr>
            <a:r>
              <a:t>▸ Dual Operational UX</a:t>
            </a:r>
          </a:p>
          <a:p>
            <a:pPr>
              <a:defRPr sz="1000">
                <a:solidFill>
                  <a:srgbClr val="DAE4F0"/>
                </a:solidFill>
              </a:defRPr>
            </a:pPr>
            <a:r>
              <a:t>Tactical Dark Mode for cyber analysts + Formal Government Skin for court documentation.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7772400" cy="274320"/>
          </a:xfrm>
          <a:prstGeom prst="rect">
            <a:avLst/>
          </a:prstGeom>
          <a:noFill/>
        </p:spPr>
        <p:txBody>
          <a:bodyPr wrap="none">
            <a:spAutoFit/>
          </a:bodyPr>
          <a:lstStyle/>
          <a:p>
            <a:pPr>
              <a:defRPr sz="1000" b="1">
                <a:solidFill>
                  <a:srgbClr val="00D4FF"/>
                </a:solidFill>
                <a:latin typeface="Arial"/>
              </a:defRPr>
            </a:pPr>
            <a:r>
              <a:t>SYSTEM WORKFLOW</a:t>
            </a:r>
          </a:p>
        </p:txBody>
      </p:sp>
      <p:sp>
        <p:nvSpPr>
          <p:cNvPr id="4" name="TextBox 3"/>
          <p:cNvSpPr txBox="1"/>
          <p:nvPr/>
        </p:nvSpPr>
        <p:spPr>
          <a:xfrm>
            <a:off x="822960" y="658368"/>
            <a:ext cx="8686800" cy="548640"/>
          </a:xfrm>
          <a:prstGeom prst="rect">
            <a:avLst/>
          </a:prstGeom>
          <a:noFill/>
        </p:spPr>
        <p:txBody>
          <a:bodyPr wrap="none">
            <a:spAutoFit/>
          </a:bodyPr>
          <a:lstStyle/>
          <a:p>
            <a:pPr>
              <a:defRPr sz="2200" b="1">
                <a:solidFill>
                  <a:srgbClr val="FFFFFF"/>
                </a:solidFill>
                <a:latin typeface="Arial"/>
              </a:defRPr>
            </a:pPr>
            <a:r>
              <a:t>How TraceX Works: A Simple 4-Step Pipeline</a:t>
            </a:r>
          </a:p>
        </p:txBody>
      </p:sp>
      <p:sp>
        <p:nvSpPr>
          <p:cNvPr id="5" name="TextBox 4"/>
          <p:cNvSpPr txBox="1"/>
          <p:nvPr/>
        </p:nvSpPr>
        <p:spPr>
          <a:xfrm>
            <a:off x="9144000" y="411480"/>
            <a:ext cx="2194560" cy="365760"/>
          </a:xfrm>
          <a:prstGeom prst="rect">
            <a:avLst/>
          </a:prstGeom>
          <a:noFill/>
        </p:spPr>
        <p:txBody>
          <a:bodyPr wrap="none">
            <a:spAutoFit/>
          </a:bodyPr>
          <a:lstStyle/>
          <a:p>
            <a:pPr algn="r">
              <a:defRPr sz="1000" b="1">
                <a:solidFill>
                  <a:srgbClr val="94A3B8"/>
                </a:solidFill>
                <a:latin typeface="Arial"/>
              </a:defRPr>
            </a:pPr>
            <a:r>
              <a:t>EPINOIA '26  •  04 / 09</a:t>
            </a:r>
          </a:p>
        </p:txBody>
      </p:sp>
      <p:sp>
        <p:nvSpPr>
          <p:cNvPr id="6" name="Rounded Rectangle 5"/>
          <p:cNvSpPr/>
          <p:nvPr/>
        </p:nvSpPr>
        <p:spPr>
          <a:xfrm>
            <a:off x="822960" y="1463040"/>
            <a:ext cx="2423160" cy="466344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1645920"/>
            <a:ext cx="2093976" cy="4297680"/>
          </a:xfrm>
          <a:prstGeom prst="rect">
            <a:avLst/>
          </a:prstGeom>
          <a:noFill/>
        </p:spPr>
        <p:txBody>
          <a:bodyPr wrap="square">
            <a:spAutoFit/>
          </a:bodyPr>
          <a:lstStyle/>
          <a:p>
            <a:pPr>
              <a:defRPr sz="1000" b="1">
                <a:solidFill>
                  <a:srgbClr val="00D4FF"/>
                </a:solidFill>
              </a:defRPr>
            </a:pPr>
            <a:r>
              <a:t>STEP 01</a:t>
            </a:r>
          </a:p>
          <a:p>
            <a:pPr>
              <a:defRPr sz="1200" b="1">
                <a:solidFill>
                  <a:srgbClr val="FFFFFF"/>
                </a:solidFill>
              </a:defRPr>
            </a:pPr>
            <a:r>
              <a:t>INGESTION &amp; ETL</a:t>
            </a:r>
          </a:p>
          <a:p>
            <a:br/>
            <a:pPr>
              <a:defRPr sz="1050" b="1">
                <a:solidFill>
                  <a:srgbClr val="7DE3FF"/>
                </a:solidFill>
              </a:defRPr>
            </a:pPr>
            <a:r>
              <a:t>▸ Raw File Upload</a:t>
            </a:r>
          </a:p>
          <a:p>
            <a:pPr>
              <a:defRPr sz="950">
                <a:solidFill>
                  <a:srgbClr val="DAE4F0"/>
                </a:solidFill>
              </a:defRPr>
            </a:pPr>
            <a:r>
              <a:t>Drop in CDR, Bank Excel sheets, UPI transaction dumps, and .eml logs.</a:t>
            </a:r>
          </a:p>
          <a:p>
            <a:br/>
            <a:pPr>
              <a:defRPr sz="1050" b="1">
                <a:solidFill>
                  <a:srgbClr val="7DE3FF"/>
                </a:solidFill>
              </a:defRPr>
            </a:pPr>
            <a:r>
              <a:t>▸ Sanitization</a:t>
            </a:r>
          </a:p>
          <a:p>
            <a:pPr>
              <a:defRPr sz="950">
                <a:solidFill>
                  <a:srgbClr val="DAE4F0"/>
                </a:solidFill>
              </a:defRPr>
            </a:pPr>
            <a:r>
              <a:t>Standardizes phone numbers (E.164), UPI handles, and bank account numbers.</a:t>
            </a:r>
          </a:p>
          <a:p>
            <a:br/>
            <a:pPr>
              <a:defRPr sz="1050" b="1">
                <a:solidFill>
                  <a:srgbClr val="7DE3FF"/>
                </a:solidFill>
              </a:defRPr>
            </a:pPr>
            <a:r>
              <a:t>▸ Evidence Seal</a:t>
            </a:r>
          </a:p>
          <a:p>
            <a:pPr>
              <a:defRPr sz="950">
                <a:solidFill>
                  <a:srgbClr val="DAE4F0"/>
                </a:solidFill>
              </a:defRPr>
            </a:pPr>
            <a:r>
              <a:t>Indexes files with cryptographic SHA-256 integrity hashes.</a:t>
            </a:r>
          </a:p>
        </p:txBody>
      </p:sp>
      <p:sp>
        <p:nvSpPr>
          <p:cNvPr id="8" name="Rounded Rectangle 7"/>
          <p:cNvSpPr/>
          <p:nvPr/>
        </p:nvSpPr>
        <p:spPr>
          <a:xfrm>
            <a:off x="3520440" y="1463040"/>
            <a:ext cx="2423160" cy="466344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85032" y="1645920"/>
            <a:ext cx="2093976" cy="4297680"/>
          </a:xfrm>
          <a:prstGeom prst="rect">
            <a:avLst/>
          </a:prstGeom>
          <a:noFill/>
        </p:spPr>
        <p:txBody>
          <a:bodyPr wrap="square">
            <a:spAutoFit/>
          </a:bodyPr>
          <a:lstStyle/>
          <a:p>
            <a:pPr>
              <a:defRPr sz="1000" b="1">
                <a:solidFill>
                  <a:srgbClr val="939CFA"/>
                </a:solidFill>
              </a:defRPr>
            </a:pPr>
            <a:r>
              <a:t>STEP 02</a:t>
            </a:r>
          </a:p>
          <a:p>
            <a:pPr>
              <a:defRPr sz="1200" b="1">
                <a:solidFill>
                  <a:srgbClr val="FFFFFF"/>
                </a:solidFill>
              </a:defRPr>
            </a:pPr>
            <a:r>
              <a:t>CORRELATION</a:t>
            </a:r>
          </a:p>
          <a:p>
            <a:br/>
            <a:pPr>
              <a:defRPr sz="1050" b="1">
                <a:solidFill>
                  <a:srgbClr val="7DE3FF"/>
                </a:solidFill>
              </a:defRPr>
            </a:pPr>
            <a:r>
              <a:t>▸ Entity Extraction</a:t>
            </a:r>
          </a:p>
          <a:p>
            <a:pPr>
              <a:defRPr sz="950">
                <a:solidFill>
                  <a:srgbClr val="DAE4F0"/>
                </a:solidFill>
              </a:defRPr>
            </a:pPr>
            <a:r>
              <a:t>Isolates Phones, Accounts, VPAs, IPs, IMEIs, and Domains.</a:t>
            </a:r>
          </a:p>
          <a:p>
            <a:br/>
            <a:pPr>
              <a:defRPr sz="1050" b="1">
                <a:solidFill>
                  <a:srgbClr val="7DE3FF"/>
                </a:solidFill>
              </a:defRPr>
            </a:pPr>
            <a:r>
              <a:t>▸ Multi-Hop Graph</a:t>
            </a:r>
          </a:p>
          <a:p>
            <a:pPr>
              <a:defRPr sz="950">
                <a:solidFill>
                  <a:srgbClr val="DAE4F0"/>
                </a:solidFill>
              </a:defRPr>
            </a:pPr>
            <a:r>
              <a:t>NetworkX builds 1st, 2nd, and 3rd-degree relationship chains.</a:t>
            </a:r>
          </a:p>
          <a:p>
            <a:br/>
            <a:pPr>
              <a:defRPr sz="1050" b="1">
                <a:solidFill>
                  <a:srgbClr val="7DE3FF"/>
                </a:solidFill>
              </a:defRPr>
            </a:pPr>
            <a:r>
              <a:t>▸ Syndicate Match</a:t>
            </a:r>
          </a:p>
          <a:p>
            <a:pPr>
              <a:defRPr sz="950">
                <a:solidFill>
                  <a:srgbClr val="DAE4F0"/>
                </a:solidFill>
              </a:defRPr>
            </a:pPr>
            <a:r>
              <a:t>Auto-flags entities shared across multiple police cases.</a:t>
            </a:r>
          </a:p>
        </p:txBody>
      </p:sp>
      <p:sp>
        <p:nvSpPr>
          <p:cNvPr id="10" name="Rounded Rectangle 9"/>
          <p:cNvSpPr/>
          <p:nvPr/>
        </p:nvSpPr>
        <p:spPr>
          <a:xfrm>
            <a:off x="6217920" y="1463040"/>
            <a:ext cx="2423160" cy="466344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1645920"/>
            <a:ext cx="2093976" cy="4297680"/>
          </a:xfrm>
          <a:prstGeom prst="rect">
            <a:avLst/>
          </a:prstGeom>
          <a:noFill/>
        </p:spPr>
        <p:txBody>
          <a:bodyPr wrap="square">
            <a:spAutoFit/>
          </a:bodyPr>
          <a:lstStyle/>
          <a:p>
            <a:pPr>
              <a:defRPr sz="1000" b="1">
                <a:solidFill>
                  <a:srgbClr val="F43F5E"/>
                </a:solidFill>
              </a:defRPr>
            </a:pPr>
            <a:r>
              <a:t>STEP 03</a:t>
            </a:r>
          </a:p>
          <a:p>
            <a:pPr>
              <a:defRPr sz="1200" b="1">
                <a:solidFill>
                  <a:srgbClr val="FFFFFF"/>
                </a:solidFill>
              </a:defRPr>
            </a:pPr>
            <a:r>
              <a:t>RISK SCORING</a:t>
            </a:r>
          </a:p>
          <a:p>
            <a:br/>
            <a:pPr>
              <a:defRPr sz="1050" b="1">
                <a:solidFill>
                  <a:srgbClr val="7DE3FF"/>
                </a:solidFill>
              </a:defRPr>
            </a:pPr>
            <a:r>
              <a:t>▸ Fraud Profiles</a:t>
            </a:r>
          </a:p>
          <a:p>
            <a:pPr>
              <a:defRPr sz="950">
                <a:solidFill>
                  <a:srgbClr val="DAE4F0"/>
                </a:solidFill>
              </a:defRPr>
            </a:pPr>
            <a:r>
              <a:t>Rules calibrated for UPI scams, investment fraud, and sextortion.</a:t>
            </a:r>
          </a:p>
          <a:p>
            <a:br/>
            <a:pPr>
              <a:defRPr sz="1050" b="1">
                <a:solidFill>
                  <a:srgbClr val="7DE3FF"/>
                </a:solidFill>
              </a:defRPr>
            </a:pPr>
            <a:r>
              <a:t>▸ Velocity Indicators</a:t>
            </a:r>
          </a:p>
          <a:p>
            <a:pPr>
              <a:defRPr sz="950">
                <a:solidFill>
                  <a:srgbClr val="DAE4F0"/>
                </a:solidFill>
              </a:defRPr>
            </a:pPr>
            <a:r>
              <a:t>Detects rapid fund transfers across multiple mule layers.</a:t>
            </a:r>
          </a:p>
          <a:p>
            <a:br/>
            <a:pPr>
              <a:defRPr sz="1050" b="1">
                <a:solidFill>
                  <a:srgbClr val="7DE3FF"/>
                </a:solidFill>
              </a:defRPr>
            </a:pPr>
            <a:r>
              <a:t>▸ Composite Score</a:t>
            </a:r>
          </a:p>
          <a:p>
            <a:pPr>
              <a:defRPr sz="950">
                <a:solidFill>
                  <a:srgbClr val="DAE4F0"/>
                </a:solidFill>
              </a:defRPr>
            </a:pPr>
            <a:r>
              <a:t>Produces an intuitive 0–100 threat severity rating.</a:t>
            </a:r>
          </a:p>
        </p:txBody>
      </p:sp>
      <p:sp>
        <p:nvSpPr>
          <p:cNvPr id="12" name="Rounded Rectangle 11"/>
          <p:cNvSpPr/>
          <p:nvPr/>
        </p:nvSpPr>
        <p:spPr>
          <a:xfrm>
            <a:off x="8915400" y="1463040"/>
            <a:ext cx="2423160" cy="466344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79992" y="1645920"/>
            <a:ext cx="2093976" cy="4297680"/>
          </a:xfrm>
          <a:prstGeom prst="rect">
            <a:avLst/>
          </a:prstGeom>
          <a:noFill/>
        </p:spPr>
        <p:txBody>
          <a:bodyPr wrap="square">
            <a:spAutoFit/>
          </a:bodyPr>
          <a:lstStyle/>
          <a:p>
            <a:pPr>
              <a:defRPr sz="1000" b="1">
                <a:solidFill>
                  <a:srgbClr val="10B981"/>
                </a:solidFill>
              </a:defRPr>
            </a:pPr>
            <a:r>
              <a:t>STEP 04</a:t>
            </a:r>
          </a:p>
          <a:p>
            <a:pPr>
              <a:defRPr sz="1200" b="1">
                <a:solidFill>
                  <a:srgbClr val="FFFFFF"/>
                </a:solidFill>
              </a:defRPr>
            </a:pPr>
            <a:r>
              <a:t>ACTION &amp; OUTPUT</a:t>
            </a:r>
          </a:p>
          <a:p>
            <a:br/>
            <a:pPr>
              <a:defRPr sz="1050" b="1">
                <a:solidFill>
                  <a:srgbClr val="7DE3FF"/>
                </a:solidFill>
              </a:defRPr>
            </a:pPr>
            <a:r>
              <a:t>▸ Interactive Graph</a:t>
            </a:r>
          </a:p>
          <a:p>
            <a:pPr>
              <a:defRPr sz="950">
                <a:solidFill>
                  <a:srgbClr val="DAE4F0"/>
                </a:solidFill>
              </a:defRPr>
            </a:pPr>
            <a:r>
              <a:t>Force-directed visual workspace with category filters.</a:t>
            </a:r>
          </a:p>
          <a:p>
            <a:br/>
            <a:pPr>
              <a:defRPr sz="1050" b="1">
                <a:solidFill>
                  <a:srgbClr val="7DE3FF"/>
                </a:solidFill>
              </a:defRPr>
            </a:pPr>
            <a:r>
              <a:t>▸ Legal Directives</a:t>
            </a:r>
          </a:p>
          <a:p>
            <a:pPr>
              <a:defRPr sz="950">
                <a:solidFill>
                  <a:srgbClr val="DAE4F0"/>
                </a:solidFill>
              </a:defRPr>
            </a:pPr>
            <a:r>
              <a:t>One-click generation of Section 91 CrPC Bank Freeze orders.</a:t>
            </a:r>
          </a:p>
          <a:p>
            <a:br/>
            <a:pPr>
              <a:defRPr sz="1050" b="1">
                <a:solidFill>
                  <a:srgbClr val="7DE3FF"/>
                </a:solidFill>
              </a:defRPr>
            </a:pPr>
            <a:r>
              <a:t>▸ AI Assistant</a:t>
            </a:r>
          </a:p>
          <a:p>
            <a:pPr>
              <a:defRPr sz="950">
                <a:solidFill>
                  <a:srgbClr val="DAE4F0"/>
                </a:solidFill>
              </a:defRPr>
            </a:pPr>
            <a:r>
              <a:t>Grounded Co-pilot answers case queries with offline fallback.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7772400" cy="274320"/>
          </a:xfrm>
          <a:prstGeom prst="rect">
            <a:avLst/>
          </a:prstGeom>
          <a:noFill/>
        </p:spPr>
        <p:txBody>
          <a:bodyPr wrap="none">
            <a:spAutoFit/>
          </a:bodyPr>
          <a:lstStyle/>
          <a:p>
            <a:pPr>
              <a:defRPr sz="1000" b="1">
                <a:solidFill>
                  <a:srgbClr val="00D4FF"/>
                </a:solidFill>
                <a:latin typeface="Arial"/>
              </a:defRPr>
            </a:pPr>
            <a:r>
              <a:t>IMPLEMENTED CAPABILITIES</a:t>
            </a:r>
          </a:p>
        </p:txBody>
      </p:sp>
      <p:sp>
        <p:nvSpPr>
          <p:cNvPr id="4" name="TextBox 3"/>
          <p:cNvSpPr txBox="1"/>
          <p:nvPr/>
        </p:nvSpPr>
        <p:spPr>
          <a:xfrm>
            <a:off x="822960" y="658368"/>
            <a:ext cx="8686800" cy="548640"/>
          </a:xfrm>
          <a:prstGeom prst="rect">
            <a:avLst/>
          </a:prstGeom>
          <a:noFill/>
        </p:spPr>
        <p:txBody>
          <a:bodyPr wrap="none">
            <a:spAutoFit/>
          </a:bodyPr>
          <a:lstStyle/>
          <a:p>
            <a:pPr>
              <a:defRPr sz="2200" b="1">
                <a:solidFill>
                  <a:srgbClr val="FFFFFF"/>
                </a:solidFill>
                <a:latin typeface="Arial"/>
              </a:defRPr>
            </a:pPr>
            <a:r>
              <a:t>Core Features Built &amp; Working in GitHub Today</a:t>
            </a:r>
          </a:p>
        </p:txBody>
      </p:sp>
      <p:sp>
        <p:nvSpPr>
          <p:cNvPr id="5" name="TextBox 4"/>
          <p:cNvSpPr txBox="1"/>
          <p:nvPr/>
        </p:nvSpPr>
        <p:spPr>
          <a:xfrm>
            <a:off x="9144000" y="411480"/>
            <a:ext cx="2194560" cy="365760"/>
          </a:xfrm>
          <a:prstGeom prst="rect">
            <a:avLst/>
          </a:prstGeom>
          <a:noFill/>
        </p:spPr>
        <p:txBody>
          <a:bodyPr wrap="none">
            <a:spAutoFit/>
          </a:bodyPr>
          <a:lstStyle/>
          <a:p>
            <a:pPr algn="r">
              <a:defRPr sz="1000" b="1">
                <a:solidFill>
                  <a:srgbClr val="94A3B8"/>
                </a:solidFill>
                <a:latin typeface="Arial"/>
              </a:defRPr>
            </a:pPr>
            <a:r>
              <a:t>EPINOIA '26  •  05 / 09</a:t>
            </a:r>
          </a:p>
        </p:txBody>
      </p:sp>
      <p:sp>
        <p:nvSpPr>
          <p:cNvPr id="6" name="Rounded Rectangle 5"/>
          <p:cNvSpPr/>
          <p:nvPr/>
        </p:nvSpPr>
        <p:spPr>
          <a:xfrm>
            <a:off x="822960" y="1463040"/>
            <a:ext cx="5120640" cy="219456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645920"/>
            <a:ext cx="4663440" cy="1828800"/>
          </a:xfrm>
          <a:prstGeom prst="rect">
            <a:avLst/>
          </a:prstGeom>
          <a:noFill/>
        </p:spPr>
        <p:txBody>
          <a:bodyPr wrap="square">
            <a:spAutoFit/>
          </a:bodyPr>
          <a:lstStyle/>
          <a:p>
            <a:pPr>
              <a:defRPr sz="1300" b="1">
                <a:solidFill>
                  <a:srgbClr val="00D4FF"/>
                </a:solidFill>
              </a:defRPr>
            </a:pPr>
            <a:r>
              <a:t>1. HETEROGENEOUS EVIDENCE ETL</a:t>
            </a:r>
          </a:p>
          <a:p>
            <a:pPr>
              <a:defRPr sz="900">
                <a:solidFill>
                  <a:srgbClr val="94A3B8"/>
                </a:solidFill>
              </a:defRPr>
            </a:pPr>
            <a:r>
              <a:t>Repository Module: backend/app/services/ingestion/</a:t>
            </a:r>
          </a:p>
          <a:p>
            <a:br/>
            <a:pPr>
              <a:defRPr sz="1050">
                <a:solidFill>
                  <a:srgbClr val="DAE4F0"/>
                </a:solidFill>
              </a:defRPr>
            </a:pPr>
            <a:r>
              <a:t>Ingests and normalizes real-world CDRs, bank Excel dumps, UPI statements, and .eml email headers into clean entity records without requiring strict schemas.</a:t>
            </a:r>
          </a:p>
        </p:txBody>
      </p:sp>
      <p:sp>
        <p:nvSpPr>
          <p:cNvPr id="8" name="Rounded Rectangle 7"/>
          <p:cNvSpPr/>
          <p:nvPr/>
        </p:nvSpPr>
        <p:spPr>
          <a:xfrm>
            <a:off x="6217920" y="1463040"/>
            <a:ext cx="5120640" cy="219456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45920"/>
            <a:ext cx="4663440" cy="1828800"/>
          </a:xfrm>
          <a:prstGeom prst="rect">
            <a:avLst/>
          </a:prstGeom>
          <a:noFill/>
        </p:spPr>
        <p:txBody>
          <a:bodyPr wrap="square">
            <a:spAutoFit/>
          </a:bodyPr>
          <a:lstStyle/>
          <a:p>
            <a:pPr>
              <a:defRPr sz="1300" b="1">
                <a:solidFill>
                  <a:srgbClr val="939CFA"/>
                </a:solidFill>
              </a:defRPr>
            </a:pPr>
            <a:r>
              <a:t>2. CLUSTERED MULTI-HOP GRAPH</a:t>
            </a:r>
          </a:p>
          <a:p>
            <a:pPr>
              <a:defRPr sz="900">
                <a:solidFill>
                  <a:srgbClr val="94A3B8"/>
                </a:solidFill>
              </a:defRPr>
            </a:pPr>
            <a:r>
              <a:t>Repository Module: frontend/src/pages/ConnectionsGraph.jsx</a:t>
            </a:r>
          </a:p>
          <a:p>
            <a:br/>
            <a:pPr>
              <a:defRPr sz="1050">
                <a:solidFill>
                  <a:srgbClr val="DAE4F0"/>
                </a:solidFill>
              </a:defRPr>
            </a:pPr>
            <a:r>
              <a:t>Interactive force-directed graph with hub-and-spoke grouping, physics pause, and entity category color coding (phone, bank, UPI, IP, IMEI).</a:t>
            </a:r>
          </a:p>
        </p:txBody>
      </p:sp>
      <p:sp>
        <p:nvSpPr>
          <p:cNvPr id="10" name="Rounded Rectangle 9"/>
          <p:cNvSpPr/>
          <p:nvPr/>
        </p:nvSpPr>
        <p:spPr>
          <a:xfrm>
            <a:off x="822960" y="3931920"/>
            <a:ext cx="5120640" cy="219456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114800"/>
            <a:ext cx="4663440" cy="1828800"/>
          </a:xfrm>
          <a:prstGeom prst="rect">
            <a:avLst/>
          </a:prstGeom>
          <a:noFill/>
        </p:spPr>
        <p:txBody>
          <a:bodyPr wrap="square">
            <a:spAutoFit/>
          </a:bodyPr>
          <a:lstStyle/>
          <a:p>
            <a:pPr>
              <a:defRPr sz="1300" b="1">
                <a:solidFill>
                  <a:srgbClr val="F43F5E"/>
                </a:solidFill>
              </a:defRPr>
            </a:pPr>
            <a:r>
              <a:t>3. SCAM-PROFILE RISK SCORING</a:t>
            </a:r>
          </a:p>
          <a:p>
            <a:pPr>
              <a:defRPr sz="900">
                <a:solidFill>
                  <a:srgbClr val="94A3B8"/>
                </a:solidFill>
              </a:defRPr>
            </a:pPr>
            <a:r>
              <a:t>Repository Module: backend/app/services/risk/scoring.py</a:t>
            </a:r>
          </a:p>
          <a:p>
            <a:br/>
            <a:pPr>
              <a:defRPr sz="1050">
                <a:solidFill>
                  <a:srgbClr val="DAE4F0"/>
                </a:solidFill>
              </a:defRPr>
            </a:pPr>
            <a:r>
              <a:t>Calculates composite 0–100 threat ratings based on transaction velocity, mule account reuse, burner SIMs, and cross-case linkage confidence.</a:t>
            </a:r>
          </a:p>
        </p:txBody>
      </p:sp>
      <p:sp>
        <p:nvSpPr>
          <p:cNvPr id="12" name="Rounded Rectangle 11"/>
          <p:cNvSpPr/>
          <p:nvPr/>
        </p:nvSpPr>
        <p:spPr>
          <a:xfrm>
            <a:off x="6217920" y="3931920"/>
            <a:ext cx="5120640" cy="219456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114800"/>
            <a:ext cx="4663440" cy="1828800"/>
          </a:xfrm>
          <a:prstGeom prst="rect">
            <a:avLst/>
          </a:prstGeom>
          <a:noFill/>
        </p:spPr>
        <p:txBody>
          <a:bodyPr wrap="square">
            <a:spAutoFit/>
          </a:bodyPr>
          <a:lstStyle/>
          <a:p>
            <a:pPr>
              <a:defRPr sz="1300" b="1">
                <a:solidFill>
                  <a:srgbClr val="10B981"/>
                </a:solidFill>
              </a:defRPr>
            </a:pPr>
            <a:r>
              <a:t>4. STATUTORY FREEZE DIRECTIVES</a:t>
            </a:r>
          </a:p>
          <a:p>
            <a:pPr>
              <a:defRPr sz="900">
                <a:solidFill>
                  <a:srgbClr val="94A3B8"/>
                </a:solidFill>
              </a:defRPr>
            </a:pPr>
            <a:r>
              <a:t>Repository Module: backend/app/services/reports/pdf_generator.py</a:t>
            </a:r>
          </a:p>
          <a:p>
            <a:br/>
            <a:pPr>
              <a:defRPr sz="1050">
                <a:solidFill>
                  <a:srgbClr val="DAE4F0"/>
                </a:solidFill>
              </a:defRPr>
            </a:pPr>
            <a:r>
              <a:t>Instant ReportLab vector generation of Section 91 CrPC Bank Debit Freeze notices and Section 69A IT Act Takedown orders with SHA-256 seal.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7772400" cy="274320"/>
          </a:xfrm>
          <a:prstGeom prst="rect">
            <a:avLst/>
          </a:prstGeom>
          <a:noFill/>
        </p:spPr>
        <p:txBody>
          <a:bodyPr wrap="none">
            <a:spAutoFit/>
          </a:bodyPr>
          <a:lstStyle/>
          <a:p>
            <a:pPr>
              <a:defRPr sz="1000" b="1">
                <a:solidFill>
                  <a:srgbClr val="00D4FF"/>
                </a:solidFill>
                <a:latin typeface="Arial"/>
              </a:defRPr>
            </a:pPr>
            <a:r>
              <a:t>TECHNICAL IMPLEMENTATION</a:t>
            </a:r>
          </a:p>
        </p:txBody>
      </p:sp>
      <p:sp>
        <p:nvSpPr>
          <p:cNvPr id="4" name="TextBox 3"/>
          <p:cNvSpPr txBox="1"/>
          <p:nvPr/>
        </p:nvSpPr>
        <p:spPr>
          <a:xfrm>
            <a:off x="822960" y="658368"/>
            <a:ext cx="8686800" cy="548640"/>
          </a:xfrm>
          <a:prstGeom prst="rect">
            <a:avLst/>
          </a:prstGeom>
          <a:noFill/>
        </p:spPr>
        <p:txBody>
          <a:bodyPr wrap="none">
            <a:spAutoFit/>
          </a:bodyPr>
          <a:lstStyle/>
          <a:p>
            <a:pPr>
              <a:defRPr sz="2200" b="1">
                <a:solidFill>
                  <a:srgbClr val="FFFFFF"/>
                </a:solidFill>
                <a:latin typeface="Arial"/>
              </a:defRPr>
            </a:pPr>
            <a:r>
              <a:t>Technology Stack &amp; High-Level Architecture</a:t>
            </a:r>
          </a:p>
        </p:txBody>
      </p:sp>
      <p:sp>
        <p:nvSpPr>
          <p:cNvPr id="5" name="TextBox 4"/>
          <p:cNvSpPr txBox="1"/>
          <p:nvPr/>
        </p:nvSpPr>
        <p:spPr>
          <a:xfrm>
            <a:off x="9144000" y="411480"/>
            <a:ext cx="2194560" cy="365760"/>
          </a:xfrm>
          <a:prstGeom prst="rect">
            <a:avLst/>
          </a:prstGeom>
          <a:noFill/>
        </p:spPr>
        <p:txBody>
          <a:bodyPr wrap="none">
            <a:spAutoFit/>
          </a:bodyPr>
          <a:lstStyle/>
          <a:p>
            <a:pPr algn="r">
              <a:defRPr sz="1000" b="1">
                <a:solidFill>
                  <a:srgbClr val="94A3B8"/>
                </a:solidFill>
                <a:latin typeface="Arial"/>
              </a:defRPr>
            </a:pPr>
            <a:r>
              <a:t>EPINOIA '26  •  06 / 09</a:t>
            </a:r>
          </a:p>
        </p:txBody>
      </p:sp>
      <p:sp>
        <p:nvSpPr>
          <p:cNvPr id="6" name="Rounded Rectangle 5"/>
          <p:cNvSpPr/>
          <p:nvPr/>
        </p:nvSpPr>
        <p:spPr>
          <a:xfrm>
            <a:off x="822960" y="1463040"/>
            <a:ext cx="5120640" cy="466344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645920"/>
            <a:ext cx="4663440" cy="4297680"/>
          </a:xfrm>
          <a:prstGeom prst="rect">
            <a:avLst/>
          </a:prstGeom>
          <a:noFill/>
        </p:spPr>
        <p:txBody>
          <a:bodyPr wrap="square">
            <a:spAutoFit/>
          </a:bodyPr>
          <a:lstStyle/>
          <a:p>
            <a:pPr>
              <a:defRPr sz="1300" b="1">
                <a:solidFill>
                  <a:srgbClr val="00D4FF"/>
                </a:solidFill>
              </a:defRPr>
            </a:pPr>
            <a:r>
              <a:t>SIMPLE ARCHITECTURAL FLOW</a:t>
            </a:r>
          </a:p>
          <a:p>
            <a:br/>
            <a:pPr>
              <a:defRPr sz="1100" b="1">
                <a:solidFill>
                  <a:srgbClr val="FFFFFF"/>
                </a:solidFill>
              </a:defRPr>
            </a:pPr>
            <a:r>
              <a:t>USER INTERFACE (React 18 + Vite SPA)</a:t>
            </a:r>
          </a:p>
          <a:p>
            <a:pPr>
              <a:defRPr sz="950">
                <a:solidFill>
                  <a:srgbClr val="DAE4F0"/>
                </a:solidFill>
              </a:defRPr>
            </a:pPr>
            <a:r>
              <a:t>Dual UX Cockpit: Tactical Dark Mode + Government Skin</a:t>
            </a:r>
          </a:p>
          <a:p>
            <a:br/>
            <a:pPr>
              <a:defRPr sz="1100" b="1">
                <a:solidFill>
                  <a:srgbClr val="FFFFFF"/>
                </a:solidFill>
              </a:defRPr>
            </a:pPr>
            <a:r>
              <a:t>↓ REST API (FastAPI + Uvicorn)</a:t>
            </a:r>
          </a:p>
          <a:p>
            <a:pPr>
              <a:defRPr sz="950">
                <a:solidFill>
                  <a:srgbClr val="DAE4F0"/>
                </a:solidFill>
              </a:defRPr>
            </a:pPr>
            <a:r>
              <a:t>OAuth2 JWT Authentication, Pydantic Data Validation, CORS</a:t>
            </a:r>
          </a:p>
          <a:p>
            <a:br/>
            <a:pPr>
              <a:defRPr sz="1100" b="1">
                <a:solidFill>
                  <a:srgbClr val="FFFFFF"/>
                </a:solidFill>
              </a:defRPr>
            </a:pPr>
            <a:r>
              <a:t>↓ ANALYTICS ENGINE (NetworkX + Pandas)</a:t>
            </a:r>
          </a:p>
          <a:p>
            <a:pPr>
              <a:defRPr sz="950">
                <a:solidFill>
                  <a:srgbClr val="DAE4F0"/>
                </a:solidFill>
              </a:defRPr>
            </a:pPr>
            <a:r>
              <a:t>Multi-hop graph builder, E.164 normalization, Risk Heuristics</a:t>
            </a:r>
          </a:p>
          <a:p>
            <a:br/>
            <a:pPr>
              <a:defRPr sz="1100" b="1">
                <a:solidFill>
                  <a:srgbClr val="FFFFFF"/>
                </a:solidFill>
              </a:defRPr>
            </a:pPr>
            <a:r>
              <a:t>↓ PERSISTENCE &amp; REPORTS (SQLAlchemy + ReportLab)</a:t>
            </a:r>
          </a:p>
          <a:p>
            <a:pPr>
              <a:defRPr sz="950">
                <a:solidFill>
                  <a:srgbClr val="DAE4F0"/>
                </a:solidFill>
              </a:defRPr>
            </a:pPr>
            <a:r>
              <a:t>Case Database, SHA-256 Hashing, Court-Ready Directives</a:t>
            </a:r>
          </a:p>
        </p:txBody>
      </p:sp>
      <p:sp>
        <p:nvSpPr>
          <p:cNvPr id="8" name="Rounded Rectangle 7"/>
          <p:cNvSpPr/>
          <p:nvPr/>
        </p:nvSpPr>
        <p:spPr>
          <a:xfrm>
            <a:off x="6217920" y="1463040"/>
            <a:ext cx="5120640" cy="466344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45920"/>
            <a:ext cx="4663440" cy="4297680"/>
          </a:xfrm>
          <a:prstGeom prst="rect">
            <a:avLst/>
          </a:prstGeom>
          <a:noFill/>
        </p:spPr>
        <p:txBody>
          <a:bodyPr wrap="square">
            <a:spAutoFit/>
          </a:bodyPr>
          <a:lstStyle/>
          <a:p>
            <a:pPr>
              <a:defRPr sz="1300" b="1">
                <a:solidFill>
                  <a:srgbClr val="10B981"/>
                </a:solidFill>
              </a:defRPr>
            </a:pPr>
            <a:r>
              <a:t>ACTUAL GITHUB TECH STACK</a:t>
            </a:r>
          </a:p>
          <a:p>
            <a:br/>
            <a:pPr>
              <a:defRPr sz="1100" b="1">
                <a:solidFill>
                  <a:srgbClr val="7DE3FF"/>
                </a:solidFill>
              </a:defRPr>
            </a:pPr>
            <a:r>
              <a:t>▸ Frontend:</a:t>
            </a:r>
          </a:p>
          <a:p>
            <a:pPr>
              <a:defRPr sz="1000">
                <a:solidFill>
                  <a:srgbClr val="DAE4F0"/>
                </a:solidFill>
              </a:defRPr>
            </a:pPr>
            <a:r>
              <a:t>React 18, Vite 5, Tailwind CSS, React Router v6, Lucide Icons</a:t>
            </a:r>
          </a:p>
          <a:p>
            <a:br/>
            <a:pPr>
              <a:defRPr sz="1100" b="1">
                <a:solidFill>
                  <a:srgbClr val="7DE3FF"/>
                </a:solidFill>
              </a:defRPr>
            </a:pPr>
            <a:r>
              <a:t>▸ Backend Server:</a:t>
            </a:r>
          </a:p>
          <a:p>
            <a:pPr>
              <a:defRPr sz="1000">
                <a:solidFill>
                  <a:srgbClr val="DAE4F0"/>
                </a:solidFill>
              </a:defRPr>
            </a:pPr>
            <a:r>
              <a:t>Python 3.11+, FastAPI (ASGI), Uvicorn High-Concurrency Server</a:t>
            </a:r>
          </a:p>
          <a:p>
            <a:br/>
            <a:pPr>
              <a:defRPr sz="1100" b="1">
                <a:solidFill>
                  <a:srgbClr val="7DE3FF"/>
                </a:solidFill>
              </a:defRPr>
            </a:pPr>
            <a:r>
              <a:t>▸ Graph &amp; Analytics:</a:t>
            </a:r>
          </a:p>
          <a:p>
            <a:pPr>
              <a:defRPr sz="1000">
                <a:solidFill>
                  <a:srgbClr val="DAE4F0"/>
                </a:solidFill>
              </a:defRPr>
            </a:pPr>
            <a:r>
              <a:t>NetworkX (multi-hop graph theory), Pandas, OpenPyXL</a:t>
            </a:r>
          </a:p>
          <a:p>
            <a:br/>
            <a:pPr>
              <a:defRPr sz="1100" b="1">
                <a:solidFill>
                  <a:srgbClr val="7DE3FF"/>
                </a:solidFill>
              </a:defRPr>
            </a:pPr>
            <a:r>
              <a:t>▸ AI Co-Pilot:</a:t>
            </a:r>
          </a:p>
          <a:p>
            <a:pPr>
              <a:defRPr sz="1000">
                <a:solidFill>
                  <a:srgbClr val="DAE4F0"/>
                </a:solidFill>
              </a:defRPr>
            </a:pPr>
            <a:r>
              <a:t>GPT-4o-mini with Grounded RAG + 100% Offline Rule Engine Fallback</a:t>
            </a:r>
          </a:p>
          <a:p>
            <a:br/>
            <a:pPr>
              <a:defRPr sz="1100" b="1">
                <a:solidFill>
                  <a:srgbClr val="7DE3FF"/>
                </a:solidFill>
              </a:defRPr>
            </a:pPr>
            <a:r>
              <a:t>▸ Document Engine:</a:t>
            </a:r>
          </a:p>
          <a:p>
            <a:pPr>
              <a:defRPr sz="1000">
                <a:solidFill>
                  <a:srgbClr val="DAE4F0"/>
                </a:solidFill>
              </a:defRPr>
            </a:pPr>
            <a:r>
              <a:t>ReportLab Vector PDF Generator (with WeasyPrint fallback)</a:t>
            </a:r>
          </a:p>
          <a:p>
            <a:br/>
            <a:pPr>
              <a:defRPr sz="1100" b="1">
                <a:solidFill>
                  <a:srgbClr val="7DE3FF"/>
                </a:solidFill>
              </a:defRPr>
            </a:pPr>
            <a:r>
              <a:t>▸ Security &amp; Auth:</a:t>
            </a:r>
          </a:p>
          <a:p>
            <a:pPr>
              <a:defRPr sz="1000">
                <a:solidFill>
                  <a:srgbClr val="DAE4F0"/>
                </a:solidFill>
              </a:defRPr>
            </a:pPr>
            <a:r>
              <a:t>OAuth2 JWT (HS256), Bcrypt Password Hashing, SHA-256 Verification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7772400" cy="274320"/>
          </a:xfrm>
          <a:prstGeom prst="rect">
            <a:avLst/>
          </a:prstGeom>
          <a:noFill/>
        </p:spPr>
        <p:txBody>
          <a:bodyPr wrap="none">
            <a:spAutoFit/>
          </a:bodyPr>
          <a:lstStyle/>
          <a:p>
            <a:pPr>
              <a:defRPr sz="1000" b="1">
                <a:solidFill>
                  <a:srgbClr val="00D4FF"/>
                </a:solidFill>
                <a:latin typeface="Arial"/>
              </a:defRPr>
            </a:pPr>
            <a:r>
              <a:t>INNOVATION &amp; IMPACT</a:t>
            </a:r>
          </a:p>
        </p:txBody>
      </p:sp>
      <p:sp>
        <p:nvSpPr>
          <p:cNvPr id="4" name="TextBox 3"/>
          <p:cNvSpPr txBox="1"/>
          <p:nvPr/>
        </p:nvSpPr>
        <p:spPr>
          <a:xfrm>
            <a:off x="822960" y="658368"/>
            <a:ext cx="8686800" cy="548640"/>
          </a:xfrm>
          <a:prstGeom prst="rect">
            <a:avLst/>
          </a:prstGeom>
          <a:noFill/>
        </p:spPr>
        <p:txBody>
          <a:bodyPr wrap="none">
            <a:spAutoFit/>
          </a:bodyPr>
          <a:lstStyle/>
          <a:p>
            <a:pPr>
              <a:defRPr sz="2200" b="1">
                <a:solidFill>
                  <a:srgbClr val="FFFFFF"/>
                </a:solidFill>
                <a:latin typeface="Arial"/>
              </a:defRPr>
            </a:pPr>
            <a:r>
              <a:t>Why TraceX Wins: Operational Reality &amp; Governance Impact</a:t>
            </a:r>
          </a:p>
        </p:txBody>
      </p:sp>
      <p:sp>
        <p:nvSpPr>
          <p:cNvPr id="5" name="TextBox 4"/>
          <p:cNvSpPr txBox="1"/>
          <p:nvPr/>
        </p:nvSpPr>
        <p:spPr>
          <a:xfrm>
            <a:off x="9144000" y="411480"/>
            <a:ext cx="2194560" cy="365760"/>
          </a:xfrm>
          <a:prstGeom prst="rect">
            <a:avLst/>
          </a:prstGeom>
          <a:noFill/>
        </p:spPr>
        <p:txBody>
          <a:bodyPr wrap="none">
            <a:spAutoFit/>
          </a:bodyPr>
          <a:lstStyle/>
          <a:p>
            <a:pPr algn="r">
              <a:defRPr sz="1000" b="1">
                <a:solidFill>
                  <a:srgbClr val="94A3B8"/>
                </a:solidFill>
                <a:latin typeface="Arial"/>
              </a:defRPr>
            </a:pPr>
            <a:r>
              <a:t>EPINOIA '26  •  07 / 09</a:t>
            </a:r>
          </a:p>
        </p:txBody>
      </p:sp>
      <p:sp>
        <p:nvSpPr>
          <p:cNvPr id="6" name="Rounded Rectangle 5"/>
          <p:cNvSpPr/>
          <p:nvPr/>
        </p:nvSpPr>
        <p:spPr>
          <a:xfrm>
            <a:off x="822960" y="1463040"/>
            <a:ext cx="5120640" cy="466344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645920"/>
            <a:ext cx="4663440" cy="4297680"/>
          </a:xfrm>
          <a:prstGeom prst="rect">
            <a:avLst/>
          </a:prstGeom>
          <a:noFill/>
        </p:spPr>
        <p:txBody>
          <a:bodyPr wrap="square">
            <a:spAutoFit/>
          </a:bodyPr>
          <a:lstStyle/>
          <a:p>
            <a:pPr>
              <a:defRPr sz="1300" b="1">
                <a:solidFill>
                  <a:srgbClr val="00D4FF"/>
                </a:solidFill>
              </a:defRPr>
            </a:pPr>
            <a:r>
              <a:t>KEY TECHNICAL DIFFERENTIATORS</a:t>
            </a:r>
          </a:p>
          <a:p>
            <a:br/>
            <a:pPr>
              <a:defRPr sz="1100" b="1">
                <a:solidFill>
                  <a:srgbClr val="FFFFFF"/>
                </a:solidFill>
              </a:defRPr>
            </a:pPr>
            <a:r>
              <a:t>▸ Zero-Disruption Police Workflow</a:t>
            </a:r>
          </a:p>
          <a:p>
            <a:pPr>
              <a:defRPr sz="1000">
                <a:solidFill>
                  <a:srgbClr val="DAE4F0"/>
                </a:solidFill>
              </a:defRPr>
            </a:pPr>
            <a:r>
              <a:t>Works natively with the raw Excel and CDR dumps police already receive daily. No proprietary database formatting required.</a:t>
            </a:r>
          </a:p>
          <a:p>
            <a:br/>
            <a:pPr>
              <a:defRPr sz="1100" b="1">
                <a:solidFill>
                  <a:srgbClr val="FFFFFF"/>
                </a:solidFill>
              </a:defRPr>
            </a:pPr>
            <a:r>
              <a:t>▸ Dual-Engine Resilient AI</a:t>
            </a:r>
          </a:p>
          <a:p>
            <a:pPr>
              <a:defRPr sz="1000">
                <a:solidFill>
                  <a:srgbClr val="DAE4F0"/>
                </a:solidFill>
              </a:defRPr>
            </a:pPr>
            <a:r>
              <a:t>Grounded RAG strictly constrained to case evidence + a 100% offline deterministic rule engine fallback for zero courtroom hallucinations.</a:t>
            </a:r>
          </a:p>
          <a:p>
            <a:br/>
            <a:pPr>
              <a:defRPr sz="1100" b="1">
                <a:solidFill>
                  <a:srgbClr val="FFFFFF"/>
                </a:solidFill>
              </a:defRPr>
            </a:pPr>
            <a:r>
              <a:t>▸ Dual Operational UX</a:t>
            </a:r>
          </a:p>
          <a:p>
            <a:pPr>
              <a:defRPr sz="1000">
                <a:solidFill>
                  <a:srgbClr val="DAE4F0"/>
                </a:solidFill>
              </a:defRPr>
            </a:pPr>
            <a:r>
              <a:t>Tactical Dark SOC cockpit for forensic analysts + Minimalist Standard Government skin for senior administrative review.</a:t>
            </a:r>
          </a:p>
        </p:txBody>
      </p:sp>
      <p:sp>
        <p:nvSpPr>
          <p:cNvPr id="8" name="Rounded Rectangle 7"/>
          <p:cNvSpPr/>
          <p:nvPr/>
        </p:nvSpPr>
        <p:spPr>
          <a:xfrm>
            <a:off x="6217920" y="1463040"/>
            <a:ext cx="5120640" cy="466344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45920"/>
            <a:ext cx="4663440" cy="4297680"/>
          </a:xfrm>
          <a:prstGeom prst="rect">
            <a:avLst/>
          </a:prstGeom>
          <a:noFill/>
        </p:spPr>
        <p:txBody>
          <a:bodyPr wrap="square">
            <a:spAutoFit/>
          </a:bodyPr>
          <a:lstStyle/>
          <a:p>
            <a:pPr>
              <a:defRPr sz="1300" b="1">
                <a:solidFill>
                  <a:srgbClr val="10B981"/>
                </a:solidFill>
              </a:defRPr>
            </a:pPr>
            <a:r>
              <a:t>MEASURABLE REAL-WORLD IMPACT</a:t>
            </a:r>
          </a:p>
          <a:p>
            <a:br/>
            <a:pPr>
              <a:defRPr sz="1100" b="1">
                <a:solidFill>
                  <a:srgbClr val="FFFFFF"/>
                </a:solidFill>
              </a:defRPr>
            </a:pPr>
            <a:r>
              <a:t>▸ For Investigating Officers</a:t>
            </a:r>
          </a:p>
          <a:p>
            <a:pPr>
              <a:defRPr sz="1000">
                <a:solidFill>
                  <a:srgbClr val="DAE4F0"/>
                </a:solidFill>
              </a:defRPr>
            </a:pPr>
            <a:r>
              <a:t>Cuts evidence parsing and correlation from 48+ hours to under 3 minutes, solving the Golden Hour bottleneck.</a:t>
            </a:r>
          </a:p>
          <a:p>
            <a:br/>
            <a:pPr>
              <a:defRPr sz="1100" b="1">
                <a:solidFill>
                  <a:srgbClr val="FFFFFF"/>
                </a:solidFill>
              </a:defRPr>
            </a:pPr>
            <a:r>
              <a:t>▸ For Cyber Crime Victims</a:t>
            </a:r>
          </a:p>
          <a:p>
            <a:pPr>
              <a:defRPr sz="1000">
                <a:solidFill>
                  <a:srgbClr val="DAE4F0"/>
                </a:solidFill>
              </a:defRPr>
            </a:pPr>
            <a:r>
              <a:t>Freezes destination mule accounts before money is laundered through ATMs, drastically improving recovery rates.</a:t>
            </a:r>
          </a:p>
          <a:p>
            <a:br/>
            <a:pPr>
              <a:defRPr sz="1100" b="1">
                <a:solidFill>
                  <a:srgbClr val="FFFFFF"/>
                </a:solidFill>
              </a:defRPr>
            </a:pPr>
            <a:r>
              <a:t>▸ For Police Leadership &amp; Courts</a:t>
            </a:r>
          </a:p>
          <a:p>
            <a:pPr>
              <a:defRPr sz="1000">
                <a:solidFill>
                  <a:srgbClr val="DAE4F0"/>
                </a:solidFill>
              </a:defRPr>
            </a:pPr>
            <a:r>
              <a:t>Produces court-admissible forensic dossiers sealed with SHA-256 hashes to secure high conviction rates.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7772400" cy="274320"/>
          </a:xfrm>
          <a:prstGeom prst="rect">
            <a:avLst/>
          </a:prstGeom>
          <a:noFill/>
        </p:spPr>
        <p:txBody>
          <a:bodyPr wrap="none">
            <a:spAutoFit/>
          </a:bodyPr>
          <a:lstStyle/>
          <a:p>
            <a:pPr>
              <a:defRPr sz="1000" b="1">
                <a:solidFill>
                  <a:srgbClr val="00D4FF"/>
                </a:solidFill>
                <a:latin typeface="Arial"/>
              </a:defRPr>
            </a:pPr>
            <a:r>
              <a:t>TEAM &amp; OWNERSHIP</a:t>
            </a:r>
          </a:p>
        </p:txBody>
      </p:sp>
      <p:sp>
        <p:nvSpPr>
          <p:cNvPr id="4" name="TextBox 3"/>
          <p:cNvSpPr txBox="1"/>
          <p:nvPr/>
        </p:nvSpPr>
        <p:spPr>
          <a:xfrm>
            <a:off x="822960" y="658368"/>
            <a:ext cx="8686800" cy="548640"/>
          </a:xfrm>
          <a:prstGeom prst="rect">
            <a:avLst/>
          </a:prstGeom>
          <a:noFill/>
        </p:spPr>
        <p:txBody>
          <a:bodyPr wrap="none">
            <a:spAutoFit/>
          </a:bodyPr>
          <a:lstStyle/>
          <a:p>
            <a:pPr>
              <a:defRPr sz="2200" b="1">
                <a:solidFill>
                  <a:srgbClr val="FFFFFF"/>
                </a:solidFill>
                <a:latin typeface="Arial"/>
              </a:defRPr>
            </a:pPr>
            <a:r>
              <a:t>Team Thunderbytes • Shri Vaishnav Vidyapeeth Vishwavidyalaya</a:t>
            </a:r>
          </a:p>
        </p:txBody>
      </p:sp>
      <p:sp>
        <p:nvSpPr>
          <p:cNvPr id="5" name="TextBox 4"/>
          <p:cNvSpPr txBox="1"/>
          <p:nvPr/>
        </p:nvSpPr>
        <p:spPr>
          <a:xfrm>
            <a:off x="9144000" y="411480"/>
            <a:ext cx="2194560" cy="365760"/>
          </a:xfrm>
          <a:prstGeom prst="rect">
            <a:avLst/>
          </a:prstGeom>
          <a:noFill/>
        </p:spPr>
        <p:txBody>
          <a:bodyPr wrap="none">
            <a:spAutoFit/>
          </a:bodyPr>
          <a:lstStyle/>
          <a:p>
            <a:pPr algn="r">
              <a:defRPr sz="1000" b="1">
                <a:solidFill>
                  <a:srgbClr val="94A3B8"/>
                </a:solidFill>
                <a:latin typeface="Arial"/>
              </a:defRPr>
            </a:pPr>
            <a:r>
              <a:t>EPINOIA '26  •  08 / 09</a:t>
            </a:r>
          </a:p>
        </p:txBody>
      </p:sp>
      <p:sp>
        <p:nvSpPr>
          <p:cNvPr id="6" name="Rounded Rectangle 5"/>
          <p:cNvSpPr/>
          <p:nvPr/>
        </p:nvSpPr>
        <p:spPr>
          <a:xfrm>
            <a:off x="822960" y="1463040"/>
            <a:ext cx="5120640" cy="219456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627632"/>
            <a:ext cx="4663440" cy="1865376"/>
          </a:xfrm>
          <a:prstGeom prst="rect">
            <a:avLst/>
          </a:prstGeom>
          <a:noFill/>
        </p:spPr>
        <p:txBody>
          <a:bodyPr wrap="square">
            <a:spAutoFit/>
          </a:bodyPr>
          <a:lstStyle/>
          <a:p>
            <a:pPr>
              <a:defRPr sz="1400" b="1">
                <a:solidFill>
                  <a:srgbClr val="00D4FF"/>
                </a:solidFill>
              </a:defRPr>
            </a:pPr>
            <a:r>
              <a:t>Ankit Tank</a:t>
            </a:r>
          </a:p>
          <a:p>
            <a:pPr>
              <a:defRPr sz="1050" b="1">
                <a:solidFill>
                  <a:srgbClr val="FFFFFF"/>
                </a:solidFill>
              </a:defRPr>
            </a:pPr>
            <a:r>
              <a:t>Team Leader &amp; Product Strategist</a:t>
            </a:r>
          </a:p>
          <a:p>
            <a:pPr>
              <a:defRPr sz="900">
                <a:solidFill>
                  <a:srgbClr val="7DE3FF"/>
                </a:solidFill>
              </a:defRPr>
            </a:pPr>
            <a:r>
              <a:t>ankittank9977@gmail.com  •  +91 9977577014</a:t>
            </a:r>
          </a:p>
          <a:p>
            <a:br/>
            <a:pPr>
              <a:defRPr sz="950">
                <a:solidFill>
                  <a:srgbClr val="DAE4F0"/>
                </a:solidFill>
              </a:defRPr>
            </a:pPr>
            <a:r>
              <a:t>Lead coordination, legal workflow research, product scope, and police operational requirements.</a:t>
            </a:r>
          </a:p>
        </p:txBody>
      </p:sp>
      <p:sp>
        <p:nvSpPr>
          <p:cNvPr id="8" name="Rounded Rectangle 7"/>
          <p:cNvSpPr/>
          <p:nvPr/>
        </p:nvSpPr>
        <p:spPr>
          <a:xfrm>
            <a:off x="6217920" y="1463040"/>
            <a:ext cx="5120640" cy="219456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27632"/>
            <a:ext cx="4663440" cy="1865376"/>
          </a:xfrm>
          <a:prstGeom prst="rect">
            <a:avLst/>
          </a:prstGeom>
          <a:noFill/>
        </p:spPr>
        <p:txBody>
          <a:bodyPr wrap="square">
            <a:spAutoFit/>
          </a:bodyPr>
          <a:lstStyle/>
          <a:p>
            <a:pPr>
              <a:defRPr sz="1400" b="1">
                <a:solidFill>
                  <a:srgbClr val="00D4FF"/>
                </a:solidFill>
              </a:defRPr>
            </a:pPr>
            <a:r>
              <a:t>Krishna Prajapat</a:t>
            </a:r>
          </a:p>
          <a:p>
            <a:pPr>
              <a:defRPr sz="1050" b="1">
                <a:solidFill>
                  <a:srgbClr val="FFFFFF"/>
                </a:solidFill>
              </a:defRPr>
            </a:pPr>
            <a:r>
              <a:t>System Architect &amp; Frontend Lead</a:t>
            </a:r>
          </a:p>
          <a:p>
            <a:pPr>
              <a:defRPr sz="900">
                <a:solidFill>
                  <a:srgbClr val="7DE3FF"/>
                </a:solidFill>
              </a:defRPr>
            </a:pPr>
            <a:r>
              <a:t>krishnaaaprajapattt@gmail.com  •  LinkedIn: krishna-prajapat-k2102</a:t>
            </a:r>
          </a:p>
          <a:p>
            <a:br/>
            <a:pPr>
              <a:defRPr sz="950">
                <a:solidFill>
                  <a:srgbClr val="DAE4F0"/>
                </a:solidFill>
              </a:defRPr>
            </a:pPr>
            <a:r>
              <a:t>React 18 architecture, interactive SVG network graph visualization, state engine, and deployment.</a:t>
            </a:r>
          </a:p>
        </p:txBody>
      </p:sp>
      <p:sp>
        <p:nvSpPr>
          <p:cNvPr id="10" name="Rounded Rectangle 9"/>
          <p:cNvSpPr/>
          <p:nvPr/>
        </p:nvSpPr>
        <p:spPr>
          <a:xfrm>
            <a:off x="822960" y="3931920"/>
            <a:ext cx="5120640" cy="219456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96512"/>
            <a:ext cx="4663440" cy="1865376"/>
          </a:xfrm>
          <a:prstGeom prst="rect">
            <a:avLst/>
          </a:prstGeom>
          <a:noFill/>
        </p:spPr>
        <p:txBody>
          <a:bodyPr wrap="square">
            <a:spAutoFit/>
          </a:bodyPr>
          <a:lstStyle/>
          <a:p>
            <a:pPr>
              <a:defRPr sz="1400" b="1">
                <a:solidFill>
                  <a:srgbClr val="00D4FF"/>
                </a:solidFill>
              </a:defRPr>
            </a:pPr>
            <a:r>
              <a:t>Avnish Sharma</a:t>
            </a:r>
          </a:p>
          <a:p>
            <a:pPr>
              <a:defRPr sz="1050" b="1">
                <a:solidFill>
                  <a:srgbClr val="FFFFFF"/>
                </a:solidFill>
              </a:defRPr>
            </a:pPr>
            <a:r>
              <a:t>Backend &amp; Correlation Lead</a:t>
            </a:r>
          </a:p>
          <a:p>
            <a:pPr>
              <a:defRPr sz="900">
                <a:solidFill>
                  <a:srgbClr val="7DE3FF"/>
                </a:solidFill>
              </a:defRPr>
            </a:pPr>
            <a:r>
              <a:t>avnishsharma4316@gmail.com  •  LinkedIn: avnish-sharma-92a964376</a:t>
            </a:r>
          </a:p>
          <a:p>
            <a:br/>
            <a:pPr>
              <a:defRPr sz="950">
                <a:solidFill>
                  <a:srgbClr val="DAE4F0"/>
                </a:solidFill>
              </a:defRPr>
            </a:pPr>
            <a:r>
              <a:t>FastAPI backend, NetworkX multi-hop correlation engine, E.164 phone &amp; UPI ingestion parsers.</a:t>
            </a:r>
          </a:p>
        </p:txBody>
      </p:sp>
      <p:sp>
        <p:nvSpPr>
          <p:cNvPr id="12" name="Rounded Rectangle 11"/>
          <p:cNvSpPr/>
          <p:nvPr/>
        </p:nvSpPr>
        <p:spPr>
          <a:xfrm>
            <a:off x="6217920" y="3931920"/>
            <a:ext cx="5120640" cy="219456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096512"/>
            <a:ext cx="4663440" cy="1865376"/>
          </a:xfrm>
          <a:prstGeom prst="rect">
            <a:avLst/>
          </a:prstGeom>
          <a:noFill/>
        </p:spPr>
        <p:txBody>
          <a:bodyPr wrap="square">
            <a:spAutoFit/>
          </a:bodyPr>
          <a:lstStyle/>
          <a:p>
            <a:pPr>
              <a:defRPr sz="1400" b="1">
                <a:solidFill>
                  <a:srgbClr val="00D4FF"/>
                </a:solidFill>
              </a:defRPr>
            </a:pPr>
            <a:r>
              <a:t>Tarun Pandya</a:t>
            </a:r>
          </a:p>
          <a:p>
            <a:pPr>
              <a:defRPr sz="1050" b="1">
                <a:solidFill>
                  <a:srgbClr val="FFFFFF"/>
                </a:solidFill>
              </a:defRPr>
            </a:pPr>
            <a:r>
              <a:t>Forensics &amp; Risk Engine Lead</a:t>
            </a:r>
          </a:p>
          <a:p>
            <a:pPr>
              <a:defRPr sz="900">
                <a:solidFill>
                  <a:srgbClr val="7DE3FF"/>
                </a:solidFill>
              </a:defRPr>
            </a:pPr>
            <a:r>
              <a:t>pandyatarun65@gmail.com  •  LinkedIn: tarun-pandya-9b91523a4</a:t>
            </a:r>
          </a:p>
          <a:p>
            <a:br/>
            <a:pPr>
              <a:defRPr sz="950">
                <a:solidFill>
                  <a:srgbClr val="DAE4F0"/>
                </a:solidFill>
              </a:defRPr>
            </a:pPr>
            <a:r>
              <a:t>ReportLab statutory legal PDF generation, scam-profile risk scoring models, test validation.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7772400" cy="274320"/>
          </a:xfrm>
          <a:prstGeom prst="rect">
            <a:avLst/>
          </a:prstGeom>
          <a:noFill/>
        </p:spPr>
        <p:txBody>
          <a:bodyPr wrap="none">
            <a:spAutoFit/>
          </a:bodyPr>
          <a:lstStyle/>
          <a:p>
            <a:pPr>
              <a:defRPr sz="1000" b="1">
                <a:solidFill>
                  <a:srgbClr val="00D4FF"/>
                </a:solidFill>
                <a:latin typeface="Arial"/>
              </a:defRPr>
            </a:pPr>
            <a:r>
              <a:t>DEMONSTRATION &amp; VERIFICATION</a:t>
            </a:r>
          </a:p>
        </p:txBody>
      </p:sp>
      <p:sp>
        <p:nvSpPr>
          <p:cNvPr id="4" name="TextBox 3"/>
          <p:cNvSpPr txBox="1"/>
          <p:nvPr/>
        </p:nvSpPr>
        <p:spPr>
          <a:xfrm>
            <a:off x="822960" y="658368"/>
            <a:ext cx="8686800" cy="548640"/>
          </a:xfrm>
          <a:prstGeom prst="rect">
            <a:avLst/>
          </a:prstGeom>
          <a:noFill/>
        </p:spPr>
        <p:txBody>
          <a:bodyPr wrap="none">
            <a:spAutoFit/>
          </a:bodyPr>
          <a:lstStyle/>
          <a:p>
            <a:pPr>
              <a:defRPr sz="2200" b="1">
                <a:solidFill>
                  <a:srgbClr val="FFFFFF"/>
                </a:solidFill>
                <a:latin typeface="Arial"/>
              </a:defRPr>
            </a:pPr>
            <a:r>
              <a:t>Live Demo, Open-Source Codebase &amp; Final Synthesis</a:t>
            </a:r>
          </a:p>
        </p:txBody>
      </p:sp>
      <p:sp>
        <p:nvSpPr>
          <p:cNvPr id="5" name="TextBox 4"/>
          <p:cNvSpPr txBox="1"/>
          <p:nvPr/>
        </p:nvSpPr>
        <p:spPr>
          <a:xfrm>
            <a:off x="9144000" y="411480"/>
            <a:ext cx="2194560" cy="365760"/>
          </a:xfrm>
          <a:prstGeom prst="rect">
            <a:avLst/>
          </a:prstGeom>
          <a:noFill/>
        </p:spPr>
        <p:txBody>
          <a:bodyPr wrap="none">
            <a:spAutoFit/>
          </a:bodyPr>
          <a:lstStyle/>
          <a:p>
            <a:pPr algn="r">
              <a:defRPr sz="1000" b="1">
                <a:solidFill>
                  <a:srgbClr val="94A3B8"/>
                </a:solidFill>
                <a:latin typeface="Arial"/>
              </a:defRPr>
            </a:pPr>
            <a:r>
              <a:t>EPINOIA '26  •  09 / 09</a:t>
            </a:r>
          </a:p>
        </p:txBody>
      </p:sp>
      <p:sp>
        <p:nvSpPr>
          <p:cNvPr id="6" name="Rounded Rectangle 5"/>
          <p:cNvSpPr/>
          <p:nvPr/>
        </p:nvSpPr>
        <p:spPr>
          <a:xfrm>
            <a:off x="822960" y="1463040"/>
            <a:ext cx="5120640" cy="393192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645920"/>
            <a:ext cx="4663440" cy="3566160"/>
          </a:xfrm>
          <a:prstGeom prst="rect">
            <a:avLst/>
          </a:prstGeom>
          <a:noFill/>
        </p:spPr>
        <p:txBody>
          <a:bodyPr wrap="square">
            <a:spAutoFit/>
          </a:bodyPr>
          <a:lstStyle/>
          <a:p>
            <a:pPr>
              <a:defRPr sz="1300" b="1">
                <a:solidFill>
                  <a:srgbClr val="10B981"/>
                </a:solidFill>
              </a:defRPr>
            </a:pPr>
            <a:r>
              <a:t>VERIFIED PROJECT ASSETS</a:t>
            </a:r>
          </a:p>
          <a:p>
            <a:br/>
            <a:pPr>
              <a:defRPr sz="1100" b="1">
                <a:solidFill>
                  <a:srgbClr val="FFFFFF"/>
                </a:solidFill>
              </a:defRPr>
            </a:pPr>
            <a:r>
              <a:t>▸ Live Deployment URL:</a:t>
            </a:r>
          </a:p>
          <a:p>
            <a:pPr>
              <a:defRPr sz="1000">
                <a:solidFill>
                  <a:srgbClr val="7DE3FF"/>
                </a:solidFill>
              </a:defRPr>
            </a:pPr>
            <a:r>
              <a:t>https://tracex-frontend-3.onrender.com/</a:t>
            </a:r>
          </a:p>
          <a:p>
            <a:br/>
            <a:pPr>
              <a:defRPr sz="1100" b="1">
                <a:solidFill>
                  <a:srgbClr val="FFFFFF"/>
                </a:solidFill>
              </a:defRPr>
            </a:pPr>
            <a:r>
              <a:t>▸ Officer Test Login:</a:t>
            </a:r>
          </a:p>
          <a:p>
            <a:pPr>
              <a:defRPr sz="1000">
                <a:solidFill>
                  <a:srgbClr val="7DE3FF"/>
                </a:solidFill>
              </a:defRPr>
            </a:pPr>
            <a:r>
              <a:t>Badge ID: MP-IO-4471   |   Password: demo1234</a:t>
            </a:r>
          </a:p>
          <a:p>
            <a:br/>
            <a:pPr>
              <a:defRPr sz="1100" b="1">
                <a:solidFill>
                  <a:srgbClr val="FFFFFF"/>
                </a:solidFill>
              </a:defRPr>
            </a:pPr>
            <a:r>
              <a:t>▸ Video Walkthrough:</a:t>
            </a:r>
          </a:p>
          <a:p>
            <a:pPr>
              <a:defRPr sz="1000">
                <a:solidFill>
                  <a:srgbClr val="7DE3FF"/>
                </a:solidFill>
              </a:defRPr>
            </a:pPr>
            <a:r>
              <a:t>https://youtu.be/oUuxdL-CVBA</a:t>
            </a:r>
          </a:p>
          <a:p>
            <a:br/>
            <a:pPr>
              <a:defRPr sz="1100" b="1">
                <a:solidFill>
                  <a:srgbClr val="FFFFFF"/>
                </a:solidFill>
              </a:defRPr>
            </a:pPr>
            <a:r>
              <a:t>▸ GitHub Repository:</a:t>
            </a:r>
          </a:p>
          <a:p>
            <a:pPr>
              <a:defRPr sz="1000">
                <a:solidFill>
                  <a:srgbClr val="7DE3FF"/>
                </a:solidFill>
              </a:defRPr>
            </a:pPr>
            <a:r>
              <a:t>https://github.com/Krishnaa-21/tracex</a:t>
            </a:r>
          </a:p>
        </p:txBody>
      </p:sp>
      <p:sp>
        <p:nvSpPr>
          <p:cNvPr id="8" name="Rounded Rectangle 7"/>
          <p:cNvSpPr/>
          <p:nvPr/>
        </p:nvSpPr>
        <p:spPr>
          <a:xfrm>
            <a:off x="6217920" y="1463040"/>
            <a:ext cx="5120640" cy="3931920"/>
          </a:xfrm>
          <a:prstGeom prst="roundRect">
            <a:avLst/>
          </a:prstGeom>
          <a:solidFill>
            <a:srgbClr val="121C2F"/>
          </a:solidFill>
          <a:ln w="15240">
            <a:solidFill>
              <a:srgbClr val="283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45920"/>
            <a:ext cx="4663440" cy="3566160"/>
          </a:xfrm>
          <a:prstGeom prst="rect">
            <a:avLst/>
          </a:prstGeom>
          <a:noFill/>
        </p:spPr>
        <p:txBody>
          <a:bodyPr wrap="square">
            <a:spAutoFit/>
          </a:bodyPr>
          <a:lstStyle/>
          <a:p>
            <a:pPr>
              <a:defRPr sz="1300" b="1">
                <a:solidFill>
                  <a:srgbClr val="00D4FF"/>
                </a:solidFill>
              </a:defRPr>
            </a:pPr>
            <a:r>
              <a:t>WHAT YOU WILL SEE IN THE DEMO</a:t>
            </a:r>
          </a:p>
          <a:p>
            <a:br/>
            <a:pPr>
              <a:defRPr sz="1050" b="1">
                <a:solidFill>
                  <a:srgbClr val="FFFFFF"/>
                </a:solidFill>
              </a:defRPr>
            </a:pPr>
            <a:r>
              <a:t>▸ 1. Multi-Format Evidence Ingestion</a:t>
            </a:r>
          </a:p>
          <a:p>
            <a:pPr>
              <a:defRPr sz="950">
                <a:solidFill>
                  <a:srgbClr val="DAE4F0"/>
                </a:solidFill>
              </a:defRPr>
            </a:pPr>
            <a:r>
              <a:t>Upload raw bank Excel sheets and CDR logs into an active case.</a:t>
            </a:r>
          </a:p>
          <a:p>
            <a:br/>
            <a:pPr>
              <a:defRPr sz="1050" b="1">
                <a:solidFill>
                  <a:srgbClr val="FFFFFF"/>
                </a:solidFill>
              </a:defRPr>
            </a:pPr>
            <a:r>
              <a:t>▸ 2. Real-Time Network Graph</a:t>
            </a:r>
          </a:p>
          <a:p>
            <a:pPr>
              <a:defRPr sz="950">
                <a:solidFill>
                  <a:srgbClr val="DAE4F0"/>
                </a:solidFill>
              </a:defRPr>
            </a:pPr>
            <a:r>
              <a:t>Automatic force-directed correlation clustering suspect phones, accounts, and IPs.</a:t>
            </a:r>
          </a:p>
          <a:p>
            <a:br/>
            <a:pPr>
              <a:defRPr sz="1050" b="1">
                <a:solidFill>
                  <a:srgbClr val="FFFFFF"/>
                </a:solidFill>
              </a:defRPr>
            </a:pPr>
            <a:r>
              <a:t>▸ 3. Dynamic Threat Scoring</a:t>
            </a:r>
          </a:p>
          <a:p>
            <a:pPr>
              <a:defRPr sz="950">
                <a:solidFill>
                  <a:srgbClr val="DAE4F0"/>
                </a:solidFill>
              </a:defRPr>
            </a:pPr>
            <a:r>
              <a:t>Composite 0-100 risk score calculation highlighting mule accounts.</a:t>
            </a:r>
          </a:p>
          <a:p>
            <a:br/>
            <a:pPr>
              <a:defRPr sz="1050" b="1">
                <a:solidFill>
                  <a:srgbClr val="FFFFFF"/>
                </a:solidFill>
              </a:defRPr>
            </a:pPr>
            <a:r>
              <a:t>▸ 4. One-Click Statutory Orders</a:t>
            </a:r>
          </a:p>
          <a:p>
            <a:pPr>
              <a:defRPr sz="950">
                <a:solidFill>
                  <a:srgbClr val="DAE4F0"/>
                </a:solidFill>
              </a:defRPr>
            </a:pPr>
            <a:r>
              <a:t>Instant generation of court-admissible Section 91 CrPC Bank Freeze directives.</a:t>
            </a:r>
          </a:p>
        </p:txBody>
      </p:sp>
      <p:sp>
        <p:nvSpPr>
          <p:cNvPr id="10" name="Rounded Rectangle 9"/>
          <p:cNvSpPr/>
          <p:nvPr/>
        </p:nvSpPr>
        <p:spPr>
          <a:xfrm>
            <a:off x="822960" y="5577840"/>
            <a:ext cx="10515600" cy="822960"/>
          </a:xfrm>
          <a:prstGeom prst="roundRect">
            <a:avLst/>
          </a:prstGeom>
          <a:solidFill>
            <a:srgbClr val="0E182C"/>
          </a:solidFill>
          <a:ln w="1524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23560"/>
            <a:ext cx="10149840" cy="731520"/>
          </a:xfrm>
          <a:prstGeom prst="rect">
            <a:avLst/>
          </a:prstGeom>
          <a:noFill/>
        </p:spPr>
        <p:txBody>
          <a:bodyPr wrap="none">
            <a:spAutoFit/>
          </a:bodyPr>
          <a:lstStyle/>
          <a:p>
            <a:pPr algn="ctr">
              <a:defRPr sz="1100" i="1" b="1">
                <a:solidFill>
                  <a:srgbClr val="FFFFFF"/>
                </a:solidFill>
              </a:defRPr>
            </a:pPr>
            <a:r>
              <a:t>"Cyber criminals operate at machine speed. Law enforcement can no longer investigate at human speed. TraceX levels the playing field."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