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day respected jury members. We are Team Thunderbytes from SVVV Indore, presenting TraceX for EPINOIA at Atharv Ranbhoomi, IIM Indore. TraceX is a fully operational, end-to-end digital cyber fraud intelligence console engineered for Law Enforcement officers to connect disparate telecom, banking, and digital evidence within seconds during the critical Golden Hour.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cyber fraud investigations, the first 2 hours are known as the 'Golden Hour'. Right now, Indian police officers receive unstructured CDR text logs and bank spreadsheets from dozens of financial institutions. Sifting through these manually takes days, allowing cyber syndicates to layer and withdraw funds through mule networks. Furthermore, police stations work in isolation, failing to detect syndicates operating across state borders.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TraceX solves this by acting as a single, unified operations room. We eliminate manual Excel comparisons by providing an end-to-end pipeline: evidence ingestion, graph correlation, heuristic risk scoring, and one-click statutory directive generation. What previously took an officer 48 hours is achieved in under three minutes.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exact technical pipeline we built. Step 1 ingests raw evidence and standardizes identifiers like phone numbers and IFSC codes. Step 2 builds a NetworkX correlation graph that links multiple cases together. Step 3 applies heuristic risk models based on the specific fraud type. Step 4 presents an interactive visual workspace and generates court-admissible PDF orders ready to be dispatched to banks and telecom operators.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single feature listed here is fully written and running in our repository today. We built real ingestion parsers, a mathematical graph correlation engine, scam-calibrated risk scoring, automated statutory PDF directives, an offline-resilient AI Co-pilot, and dual operational skins designed specifically for Indian police workflows.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architecture is modern, clean, and highly scalable. On the frontend, React 18 and Vite deliver a sub-second, highly responsive interface. On the backend, FastAPI and NetworkX handle multi-hop graph resolution in milliseconds. Our AI layer features strict RAG grounding, and ReportLab produces court-admissible vector PDFs with cryptographic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Unlike generic student projects, TraceX is designed around the realities of Indian police work. We don't ask officers to change their evidence formats. Our AI never hallucinates in court because it is strictly grounded in evidence with offline fallback. And most importantly, we bridge the gap between intelligence and legal action through automated statutory freeze directives.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TraceX directly protects citizen funds by enabling rapid account freezing in the Golden Hour. For scalability, our roadmap clearly separates what is already implemented today from future integrations like 1930 NCRP portals, telecom tower streams, and crypto tracking.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esteemed jury. TraceX is not just an idea—it is a functional, tested platform with live deployment, comprehensive test suites, and authentic law-enforcement capabilities. We are ready to answer your questions and look forward to demonstrating TraceX in the offline finale at IIM Indore.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5943600" cy="384048"/>
          </a:xfrm>
          <a:prstGeom prst="roundRect">
            <a:avLst/>
          </a:prstGeom>
          <a:solidFill>
            <a:srgbClr val="10203C"/>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D4FF"/>
                </a:solidFill>
              </a:defRPr>
            </a:pPr>
            <a:r>
              <a:t>EPINOIA 2026  •  FLAGSHIP HACKATHON  •  ATHARV RANBHOOMI, IIM INDORE</a:t>
            </a:r>
          </a:p>
        </p:txBody>
      </p:sp>
      <p:sp>
        <p:nvSpPr>
          <p:cNvPr id="4" name="TextBox 3"/>
          <p:cNvSpPr txBox="1"/>
          <p:nvPr/>
        </p:nvSpPr>
        <p:spPr>
          <a:xfrm>
            <a:off x="731520" y="1280160"/>
            <a:ext cx="7772400" cy="1280160"/>
          </a:xfrm>
          <a:prstGeom prst="rect">
            <a:avLst/>
          </a:prstGeom>
          <a:noFill/>
        </p:spPr>
        <p:txBody>
          <a:bodyPr wrap="none">
            <a:spAutoFit/>
          </a:bodyPr>
          <a:lstStyle/>
          <a:p>
            <a:pPr>
              <a:defRPr sz="5600" b="1">
                <a:solidFill>
                  <a:srgbClr val="FFFFFF"/>
                </a:solidFill>
                <a:latin typeface="Arial"/>
              </a:defRPr>
            </a:pPr>
            <a:r>
              <a:t>TraceX</a:t>
            </a:r>
          </a:p>
          <a:p>
            <a:pPr>
              <a:defRPr sz="2000" b="1">
                <a:solidFill>
                  <a:srgbClr val="38BDF8"/>
                </a:solidFill>
                <a:latin typeface="Arial"/>
              </a:defRPr>
            </a:pPr>
            <a:r>
              <a:t>Unified Cyber Fraud Intelligence &amp; Forensic Correlation Console</a:t>
            </a:r>
          </a:p>
          <a:p>
            <a:pPr>
              <a:defRPr sz="1300">
                <a:solidFill>
                  <a:srgbClr val="94A3B8"/>
                </a:solidFill>
                <a:latin typeface="Arial"/>
              </a:defRPr>
            </a:pPr>
            <a:r>
              <a:t>Automating multi-hop entity correlation, cross-case syndicate discovery, and statutory freeze directives for Law Enforcement during the critical Golden Hour.</a:t>
            </a:r>
          </a:p>
        </p:txBody>
      </p:sp>
      <p:sp>
        <p:nvSpPr>
          <p:cNvPr id="5" name="Rounded Rectangle 4"/>
          <p:cNvSpPr/>
          <p:nvPr/>
        </p:nvSpPr>
        <p:spPr>
          <a:xfrm>
            <a:off x="8503920" y="1097280"/>
            <a:ext cx="2926080" cy="3291840"/>
          </a:xfrm>
          <a:prstGeom prst="roundRect">
            <a:avLst/>
          </a:prstGeom>
          <a:solidFill>
            <a:srgbClr val="0F172A"/>
          </a:solidFill>
          <a:ln w="12700">
            <a:solidFill>
              <a:srgbClr val="25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tharv_ranbhoomi_logo.png"/>
          <p:cNvPicPr>
            <a:picLocks noChangeAspect="1"/>
          </p:cNvPicPr>
          <p:nvPr/>
        </p:nvPicPr>
        <p:blipFill>
          <a:blip r:embed="rId2"/>
          <a:stretch>
            <a:fillRect/>
          </a:stretch>
        </p:blipFill>
        <p:spPr>
          <a:xfrm>
            <a:off x="8823960" y="1280160"/>
            <a:ext cx="2286000" cy="2286000"/>
          </a:xfrm>
          <a:prstGeom prst="rect">
            <a:avLst/>
          </a:prstGeom>
        </p:spPr>
      </p:pic>
      <p:sp>
        <p:nvSpPr>
          <p:cNvPr id="7" name="TextBox 6"/>
          <p:cNvSpPr txBox="1"/>
          <p:nvPr/>
        </p:nvSpPr>
        <p:spPr>
          <a:xfrm>
            <a:off x="8595360" y="3657600"/>
            <a:ext cx="2743200" cy="640080"/>
          </a:xfrm>
          <a:prstGeom prst="rect">
            <a:avLst/>
          </a:prstGeom>
          <a:noFill/>
        </p:spPr>
        <p:txBody>
          <a:bodyPr wrap="none">
            <a:spAutoFit/>
          </a:bodyPr>
          <a:lstStyle/>
          <a:p>
            <a:pPr algn="ctr">
              <a:defRPr sz="1300" b="1">
                <a:solidFill>
                  <a:srgbClr val="FFFFFF"/>
                </a:solidFill>
              </a:defRPr>
            </a:pPr>
            <a:r>
              <a:t>Atharv Ranbhoomi '26</a:t>
            </a:r>
          </a:p>
          <a:p>
            <a:pPr algn="ctr">
              <a:defRPr sz="1050">
                <a:solidFill>
                  <a:srgbClr val="00D4FF"/>
                </a:solidFill>
              </a:defRPr>
            </a:pPr>
            <a:r>
              <a:t>IIM Indore  •  Round 1 Submission</a:t>
            </a:r>
          </a:p>
        </p:txBody>
      </p:sp>
      <p:sp>
        <p:nvSpPr>
          <p:cNvPr id="8" name="Rounded Rectangle 7"/>
          <p:cNvSpPr/>
          <p:nvPr/>
        </p:nvSpPr>
        <p:spPr>
          <a:xfrm>
            <a:off x="731520" y="4389120"/>
            <a:ext cx="6583680" cy="1920240"/>
          </a:xfrm>
          <a:prstGeom prst="roundRect">
            <a:avLst/>
          </a:prstGeom>
          <a:solidFill>
            <a:srgbClr val="131E32"/>
          </a:solidFill>
          <a:ln w="12700">
            <a:solidFill>
              <a:srgbClr val="25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D4FF"/>
                </a:solidFill>
              </a:defRPr>
            </a:pPr>
            <a:r>
              <a:t>TEAM THUNDERBYTES  |  Shri Vaishnav Vidyapeeth Vishwavidyalaya (SVVV), Indore</a:t>
            </a:r>
          </a:p>
          <a:p>
            <a:pPr>
              <a:defRPr sz="950">
                <a:solidFill>
                  <a:srgbClr val="FFFFFF"/>
                </a:solidFill>
              </a:defRPr>
            </a:pPr>
            <a:r>
              <a:t>• Ankit Tank  (Team Leader)  —  ankittank9977@gmail.com  |  +91 9977577014</a:t>
            </a:r>
          </a:p>
          <a:p>
            <a:pPr>
              <a:defRPr sz="950">
                <a:solidFill>
                  <a:srgbClr val="FFFFFF"/>
                </a:solidFill>
              </a:defRPr>
            </a:pPr>
            <a:r>
              <a:t>• Krishna Prajapat  (System Architect &amp; Frontend)  —  krishnaaaprajapattt@gmail.com  |  LinkedIn: krishna-prajapat-k2102</a:t>
            </a:r>
          </a:p>
          <a:p>
            <a:pPr>
              <a:defRPr sz="950">
                <a:solidFill>
                  <a:srgbClr val="FFFFFF"/>
                </a:solidFill>
              </a:defRPr>
            </a:pPr>
            <a:r>
              <a:t>• Avnish Sharma  (Backend &amp; Correlation Engine)  —  avnishsharma4316@gmail.com  |  LinkedIn: avnish-sharma-92a964376</a:t>
            </a:r>
          </a:p>
          <a:p>
            <a:pPr>
              <a:defRPr sz="950">
                <a:solidFill>
                  <a:srgbClr val="FFFFFF"/>
                </a:solidFill>
              </a:defRPr>
            </a:pPr>
            <a:r>
              <a:t>• Tarun Pandya  (Forensics &amp; Report Engine)  —  pandyatarun65@gmail.com  |  LinkedIn: tarun-pandya-9b91523a4</a:t>
            </a:r>
          </a:p>
        </p:txBody>
      </p:sp>
      <p:sp>
        <p:nvSpPr>
          <p:cNvPr id="9" name="Rounded Rectangle 8"/>
          <p:cNvSpPr/>
          <p:nvPr/>
        </p:nvSpPr>
        <p:spPr>
          <a:xfrm>
            <a:off x="7498079" y="4389120"/>
            <a:ext cx="3931920" cy="1920240"/>
          </a:xfrm>
          <a:prstGeom prst="roundRect">
            <a:avLst/>
          </a:prstGeom>
          <a:solidFill>
            <a:srgbClr val="131E32"/>
          </a:solidFill>
          <a:ln w="12700">
            <a:solidFill>
              <a:srgbClr val="25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0B981"/>
                </a:solidFill>
              </a:defRPr>
            </a:pPr>
            <a:r>
              <a:t>VERIFIED PROJECT LINKS</a:t>
            </a:r>
          </a:p>
          <a:p>
            <a:pPr>
              <a:defRPr sz="900">
                <a:solidFill>
                  <a:srgbClr val="FFFFFF"/>
                </a:solidFill>
              </a:defRPr>
            </a:pPr>
            <a:r>
              <a:t>• Live Deployment: https://tracex-frontend-3.onrender.com/</a:t>
            </a:r>
          </a:p>
          <a:p>
            <a:pPr>
              <a:defRPr sz="900">
                <a:solidFill>
                  <a:srgbClr val="FFFFFF"/>
                </a:solidFill>
              </a:defRPr>
            </a:pPr>
            <a:r>
              <a:t>• Video Walkthrough: https://youtu.be/oUuxdL-CVBA</a:t>
            </a:r>
          </a:p>
          <a:p>
            <a:pPr>
              <a:defRPr sz="900">
                <a:solidFill>
                  <a:srgbClr val="FFFFFF"/>
                </a:solidFill>
              </a:defRPr>
            </a:pPr>
            <a:r>
              <a:t>• GitHub Repository: https://github.com/Krishnaa-21/tracex</a:t>
            </a:r>
          </a:p>
          <a:p>
            <a:pPr>
              <a:defRPr sz="900">
                <a:solidFill>
                  <a:srgbClr val="FFFFFF"/>
                </a:solidFill>
              </a:defRPr>
            </a:pPr>
            <a:r>
              <a:t>• Default Officer Login: Badge: MP-IO-4471  |  Pass: demo1234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a:spAutoFit/>
          </a:bodyPr>
          <a:lstStyle/>
          <a:p>
            <a:pPr>
              <a:defRPr sz="1000" b="1">
                <a:solidFill>
                  <a:srgbClr val="00D4FF"/>
                </a:solidFill>
                <a:latin typeface="Arial"/>
              </a:defRPr>
            </a:pPr>
            <a:r>
              <a:t>CONTEXT &amp; PROBLEM STATEMENT</a:t>
            </a:r>
          </a:p>
        </p:txBody>
      </p:sp>
      <p:sp>
        <p:nvSpPr>
          <p:cNvPr id="4" name="TextBox 3"/>
          <p:cNvSpPr txBox="1"/>
          <p:nvPr/>
        </p:nvSpPr>
        <p:spPr>
          <a:xfrm>
            <a:off x="731520" y="621792"/>
            <a:ext cx="9601200" cy="594360"/>
          </a:xfrm>
          <a:prstGeom prst="rect">
            <a:avLst/>
          </a:prstGeom>
          <a:noFill/>
        </p:spPr>
        <p:txBody>
          <a:bodyPr wrap="square">
            <a:spAutoFit/>
          </a:bodyPr>
          <a:lstStyle/>
          <a:p>
            <a:pPr>
              <a:defRPr sz="2200" b="1">
                <a:solidFill>
                  <a:srgbClr val="FFFFFF"/>
                </a:solidFill>
                <a:latin typeface="Arial"/>
              </a:defRPr>
            </a:pPr>
            <a:r>
              <a:t>The Golden Hour Paralysis in Cyber Crime Investigation</a:t>
            </a:r>
          </a:p>
        </p:txBody>
      </p:sp>
      <p:sp>
        <p:nvSpPr>
          <p:cNvPr id="5" name="TextBox 4"/>
          <p:cNvSpPr txBox="1"/>
          <p:nvPr/>
        </p:nvSpPr>
        <p:spPr>
          <a:xfrm>
            <a:off x="8686800" y="365760"/>
            <a:ext cx="2743200" cy="457200"/>
          </a:xfrm>
          <a:prstGeom prst="rect">
            <a:avLst/>
          </a:prstGeom>
          <a:noFill/>
        </p:spPr>
        <p:txBody>
          <a:bodyPr wrap="none">
            <a:spAutoFit/>
          </a:bodyPr>
          <a:lstStyle/>
          <a:p>
            <a:pPr algn="r">
              <a:defRPr sz="1100" b="1">
                <a:solidFill>
                  <a:srgbClr val="64748B"/>
                </a:solidFill>
                <a:latin typeface="Arial"/>
              </a:defRPr>
            </a:pPr>
            <a:r>
              <a:t>EPINOIA '26  |  02 / 09</a:t>
            </a:r>
          </a:p>
        </p:txBody>
      </p:sp>
      <p:sp>
        <p:nvSpPr>
          <p:cNvPr id="6" name="Rounded Rectangle 5"/>
          <p:cNvSpPr/>
          <p:nvPr/>
        </p:nvSpPr>
        <p:spPr>
          <a:xfrm>
            <a:off x="731520" y="1371600"/>
            <a:ext cx="3328416" cy="4846320"/>
          </a:xfrm>
          <a:prstGeom prst="roundRect">
            <a:avLst/>
          </a:prstGeom>
          <a:solidFill>
            <a:srgbClr val="131E32"/>
          </a:solidFill>
          <a:ln w="12700">
            <a:solidFill>
              <a:srgbClr val="25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08760"/>
            <a:ext cx="3054096" cy="4572000"/>
          </a:xfrm>
          <a:prstGeom prst="rect">
            <a:avLst/>
          </a:prstGeom>
          <a:noFill/>
        </p:spPr>
        <p:txBody>
          <a:bodyPr wrap="square">
            <a:spAutoFit/>
          </a:bodyPr>
          <a:lstStyle/>
          <a:p>
            <a:pPr>
              <a:defRPr sz="1300" b="1">
                <a:solidFill>
                  <a:srgbClr val="F43F5E"/>
                </a:solidFill>
              </a:defRPr>
            </a:pPr>
            <a:r>
              <a:t>FRAGMENTED EVIDENCE SILOS</a:t>
            </a:r>
          </a:p>
          <a:p>
            <a:br/>
            <a:pPr>
              <a:defRPr sz="1100">
                <a:solidFill>
                  <a:srgbClr val="94A3B8"/>
                </a:solidFill>
              </a:defRPr>
            </a:pPr>
            <a:r>
              <a:t>• Multiple Raw Formats: Officers receive Excel dumps from 10+ different banks, CDR/IPDR text files from telcos, and email .eml logs.</a:t>
            </a:r>
            <a:br/>
            <a:br/>
            <a:r>
              <a:t>• Manual Reconciliation: Investigating Officers (IOs) cross-check 10,000+ line spreadsheets cell-by-cell using VLOOKUP.</a:t>
            </a:r>
            <a:br/>
            <a:br/>
            <a:r>
              <a:t>• Zero Interoperability: No standard schema exists between bank statements, UPI merchant sheets, and cellular tower logs.</a:t>
            </a:r>
          </a:p>
        </p:txBody>
      </p:sp>
      <p:sp>
        <p:nvSpPr>
          <p:cNvPr id="8" name="Rounded Rectangle 7"/>
          <p:cNvSpPr/>
          <p:nvPr/>
        </p:nvSpPr>
        <p:spPr>
          <a:xfrm>
            <a:off x="4425696" y="1371600"/>
            <a:ext cx="3328416" cy="4846320"/>
          </a:xfrm>
          <a:prstGeom prst="roundRect">
            <a:avLst/>
          </a:prstGeom>
          <a:solidFill>
            <a:srgbClr val="131E32"/>
          </a:solidFill>
          <a:ln w="12700">
            <a:solidFill>
              <a:srgbClr val="25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62856" y="1508760"/>
            <a:ext cx="3054096" cy="4572000"/>
          </a:xfrm>
          <a:prstGeom prst="rect">
            <a:avLst/>
          </a:prstGeom>
          <a:noFill/>
        </p:spPr>
        <p:txBody>
          <a:bodyPr wrap="square">
            <a:spAutoFit/>
          </a:bodyPr>
          <a:lstStyle/>
          <a:p>
            <a:pPr>
              <a:defRPr sz="1300" b="1">
                <a:solidFill>
                  <a:srgbClr val="F59E0B"/>
                </a:solidFill>
              </a:defRPr>
            </a:pPr>
            <a:r>
              <a:t>LOST GOLDEN HOUR (&lt;2 HOURS)</a:t>
            </a:r>
          </a:p>
          <a:p>
            <a:br/>
            <a:pPr>
              <a:defRPr sz="1100">
                <a:solidFill>
                  <a:srgbClr val="94A3B8"/>
                </a:solidFill>
              </a:defRPr>
            </a:pPr>
            <a:r>
              <a:t>• Rapid Fund Layering: Stolen funds are routed across 4 to 6 mule accounts and converted into cash at ATMs within 45 minutes.</a:t>
            </a:r>
            <a:br/>
            <a:br/>
            <a:r>
              <a:t>• 48-Hour Investigation Lag: Manual analysis takes 24 to 72 hours per case. By the time links are spotted, money is gone.</a:t>
            </a:r>
            <a:br/>
            <a:br/>
            <a:r>
              <a:t>• Burner Infrastructure: Fraudsters discard SIM cards and UPI VPAs within hours, leaving cold trails.</a:t>
            </a:r>
          </a:p>
        </p:txBody>
      </p:sp>
      <p:sp>
        <p:nvSpPr>
          <p:cNvPr id="10" name="Rounded Rectangle 9"/>
          <p:cNvSpPr/>
          <p:nvPr/>
        </p:nvSpPr>
        <p:spPr>
          <a:xfrm>
            <a:off x="8119872" y="1371600"/>
            <a:ext cx="3328416" cy="4846320"/>
          </a:xfrm>
          <a:prstGeom prst="roundRect">
            <a:avLst/>
          </a:prstGeom>
          <a:solidFill>
            <a:srgbClr val="131E32"/>
          </a:solidFill>
          <a:ln w="12700">
            <a:solidFill>
              <a:srgbClr val="25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57032" y="1508760"/>
            <a:ext cx="3054096" cy="4572000"/>
          </a:xfrm>
          <a:prstGeom prst="rect">
            <a:avLst/>
          </a:prstGeom>
          <a:noFill/>
        </p:spPr>
        <p:txBody>
          <a:bodyPr wrap="square">
            <a:spAutoFit/>
          </a:bodyPr>
          <a:lstStyle/>
          <a:p>
            <a:pPr>
              <a:defRPr sz="1300" b="1">
                <a:solidFill>
                  <a:srgbClr val="818CF8"/>
                </a:solidFill>
              </a:defRPr>
            </a:pPr>
            <a:r>
              <a:t>CROSS-CASE BLIND SPOTS</a:t>
            </a:r>
          </a:p>
          <a:p>
            <a:br/>
            <a:pPr>
              <a:defRPr sz="1100">
                <a:solidFill>
                  <a:srgbClr val="94A3B8"/>
                </a:solidFill>
              </a:defRPr>
            </a:pPr>
            <a:r>
              <a:t>• Organized Crime Syndicates: The same mule account is used across 15 FIRs in 4 different districts simultaneously.</a:t>
            </a:r>
            <a:br/>
            <a:br/>
            <a:r>
              <a:t>• Station-Level Silos: Bhopal Cyber Cell has no automated way of knowing that an IMEI under scrutiny is also active in Indore or Jabalpur.</a:t>
            </a:r>
            <a:br/>
            <a:br/>
            <a:r>
              <a:t>• High Officer Burnout: Hundreds of fresh cyber complaints are filed daily on 1930/NCRP with limited technical manpower.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a:spAutoFit/>
          </a:bodyPr>
          <a:lstStyle/>
          <a:p>
            <a:pPr>
              <a:defRPr sz="1000" b="1">
                <a:solidFill>
                  <a:srgbClr val="00D4FF"/>
                </a:solidFill>
                <a:latin typeface="Arial"/>
              </a:defRPr>
            </a:pPr>
            <a:r>
              <a:t>PRODUCT VALUE PROPOSITION</a:t>
            </a:r>
          </a:p>
        </p:txBody>
      </p:sp>
      <p:sp>
        <p:nvSpPr>
          <p:cNvPr id="4" name="TextBox 3"/>
          <p:cNvSpPr txBox="1"/>
          <p:nvPr/>
        </p:nvSpPr>
        <p:spPr>
          <a:xfrm>
            <a:off x="731520" y="621792"/>
            <a:ext cx="9601200" cy="594360"/>
          </a:xfrm>
          <a:prstGeom prst="rect">
            <a:avLst/>
          </a:prstGeom>
          <a:noFill/>
        </p:spPr>
        <p:txBody>
          <a:bodyPr wrap="square">
            <a:spAutoFit/>
          </a:bodyPr>
          <a:lstStyle/>
          <a:p>
            <a:pPr>
              <a:defRPr sz="2200" b="1">
                <a:solidFill>
                  <a:srgbClr val="FFFFFF"/>
                </a:solidFill>
                <a:latin typeface="Arial"/>
              </a:defRPr>
            </a:pPr>
            <a:r>
              <a:t>TraceX: Unified Cyber Crime Operations Console</a:t>
            </a:r>
          </a:p>
        </p:txBody>
      </p:sp>
      <p:sp>
        <p:nvSpPr>
          <p:cNvPr id="5" name="TextBox 4"/>
          <p:cNvSpPr txBox="1"/>
          <p:nvPr/>
        </p:nvSpPr>
        <p:spPr>
          <a:xfrm>
            <a:off x="8686800" y="365760"/>
            <a:ext cx="2743200" cy="457200"/>
          </a:xfrm>
          <a:prstGeom prst="rect">
            <a:avLst/>
          </a:prstGeom>
          <a:noFill/>
        </p:spPr>
        <p:txBody>
          <a:bodyPr wrap="none">
            <a:spAutoFit/>
          </a:bodyPr>
          <a:lstStyle/>
          <a:p>
            <a:pPr algn="r">
              <a:defRPr sz="1100" b="1">
                <a:solidFill>
                  <a:srgbClr val="64748B"/>
                </a:solidFill>
                <a:latin typeface="Arial"/>
              </a:defRPr>
            </a:pPr>
            <a:r>
              <a:t>EPINOIA '26  |  03 / 09</a:t>
            </a:r>
          </a:p>
        </p:txBody>
      </p:sp>
      <p:sp>
        <p:nvSpPr>
          <p:cNvPr id="6" name="Rounded Rectangle 5"/>
          <p:cNvSpPr/>
          <p:nvPr/>
        </p:nvSpPr>
        <p:spPr>
          <a:xfrm>
            <a:off x="731520" y="1371600"/>
            <a:ext cx="5486400" cy="2331720"/>
          </a:xfrm>
          <a:prstGeom prst="roundRect">
            <a:avLst/>
          </a:prstGeom>
          <a:solidFill>
            <a:srgbClr val="131E32"/>
          </a:solidFill>
          <a:ln w="12700">
            <a:solidFill>
              <a:srgbClr val="25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5120640" cy="2011680"/>
          </a:xfrm>
          <a:prstGeom prst="rect">
            <a:avLst/>
          </a:prstGeom>
          <a:noFill/>
        </p:spPr>
        <p:txBody>
          <a:bodyPr wrap="square">
            <a:spAutoFit/>
          </a:bodyPr>
          <a:lstStyle/>
          <a:p>
            <a:pPr>
              <a:defRPr sz="1300" b="1">
                <a:solidFill>
                  <a:srgbClr val="00D4FF"/>
                </a:solidFill>
              </a:defRPr>
            </a:pPr>
            <a:r>
              <a:t>1. INGESTION TO CORRELATION IN SECONDS</a:t>
            </a:r>
          </a:p>
          <a:p>
            <a:pPr>
              <a:defRPr sz="1100">
                <a:solidFill>
                  <a:srgbClr val="94A3B8"/>
                </a:solidFill>
              </a:defRPr>
            </a:pPr>
            <a:r>
              <a:t>TraceX ingests heterogeneous evidence—CDRs, bank account sheets, UPI transaction logs, IPDR records, and email headers. Our automated normalization pipeline extracts, standardizes, and resolves entities into a unified graph in real time.</a:t>
            </a:r>
          </a:p>
        </p:txBody>
      </p:sp>
      <p:sp>
        <p:nvSpPr>
          <p:cNvPr id="8" name="Rounded Rectangle 7"/>
          <p:cNvSpPr/>
          <p:nvPr/>
        </p:nvSpPr>
        <p:spPr>
          <a:xfrm>
            <a:off x="731520" y="3886200"/>
            <a:ext cx="5486400" cy="2331720"/>
          </a:xfrm>
          <a:prstGeom prst="roundRect">
            <a:avLst/>
          </a:prstGeom>
          <a:solidFill>
            <a:srgbClr val="131E32"/>
          </a:solidFill>
          <a:ln w="12700">
            <a:solidFill>
              <a:srgbClr val="25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023360"/>
            <a:ext cx="5120640" cy="2011680"/>
          </a:xfrm>
          <a:prstGeom prst="rect">
            <a:avLst/>
          </a:prstGeom>
          <a:noFill/>
        </p:spPr>
        <p:txBody>
          <a:bodyPr wrap="square">
            <a:spAutoFit/>
          </a:bodyPr>
          <a:lstStyle/>
          <a:p>
            <a:pPr>
              <a:defRPr sz="1300" b="1">
                <a:solidFill>
                  <a:srgbClr val="10B981"/>
                </a:solidFill>
              </a:defRPr>
            </a:pPr>
            <a:r>
              <a:t>2. GROUNDED AI &amp; STATUTORY DIRECTIVES</a:t>
            </a:r>
          </a:p>
          <a:p>
            <a:pPr>
              <a:defRPr sz="1100">
                <a:solidFill>
                  <a:srgbClr val="94A3B8"/>
                </a:solidFill>
              </a:defRPr>
            </a:pPr>
            <a:r>
              <a:t>Combines an offline-resilient AI Co-pilot grounded in case evidence with automated PDF generators that produce Section 91 CrPC Bank Debit Freeze notices and Section 69A IT Act Emergency Takedown directives with cryptographic SHA-256 integrity verification.</a:t>
            </a:r>
          </a:p>
        </p:txBody>
      </p:sp>
      <p:sp>
        <p:nvSpPr>
          <p:cNvPr id="10" name="Rounded Rectangle 9"/>
          <p:cNvSpPr/>
          <p:nvPr/>
        </p:nvSpPr>
        <p:spPr>
          <a:xfrm>
            <a:off x="6492240" y="1371600"/>
            <a:ext cx="4937760" cy="4846320"/>
          </a:xfrm>
          <a:prstGeom prst="roundRect">
            <a:avLst/>
          </a:prstGeom>
          <a:solidFill>
            <a:srgbClr val="131E32"/>
          </a:solidFill>
          <a:ln w="12700">
            <a:solidFill>
              <a:srgbClr val="25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20840" y="1508760"/>
            <a:ext cx="4480560" cy="4572000"/>
          </a:xfrm>
          <a:prstGeom prst="rect">
            <a:avLst/>
          </a:prstGeom>
          <a:noFill/>
        </p:spPr>
        <p:txBody>
          <a:bodyPr wrap="square">
            <a:spAutoFit/>
          </a:bodyPr>
          <a:lstStyle/>
          <a:p>
            <a:pPr>
              <a:defRPr sz="1400" b="1">
                <a:solidFill>
                  <a:srgbClr val="FFFFFF"/>
                </a:solidFill>
              </a:defRPr>
            </a:pPr>
            <a:r>
              <a:t>KEY QUANTIFIABLE ADVANTAGES</a:t>
            </a:r>
          </a:p>
          <a:p>
            <a:br/>
            <a:pPr>
              <a:defRPr sz="1150" b="1">
                <a:solidFill>
                  <a:srgbClr val="38BDF8"/>
                </a:solidFill>
              </a:defRPr>
            </a:pPr>
            <a:r>
              <a:t>▸ From 48 Hours to 3 Minutes</a:t>
            </a:r>
          </a:p>
          <a:p>
            <a:pPr>
              <a:defRPr sz="1000">
                <a:solidFill>
                  <a:srgbClr val="94A3B8"/>
                </a:solidFill>
              </a:defRPr>
            </a:pPr>
            <a:r>
              <a:t>Complete case triage time reduced by over 95% within the Golden Hour.</a:t>
            </a:r>
          </a:p>
          <a:p>
            <a:br/>
            <a:pPr>
              <a:defRPr sz="1150" b="1">
                <a:solidFill>
                  <a:srgbClr val="38BDF8"/>
                </a:solidFill>
              </a:defRPr>
            </a:pPr>
            <a:r>
              <a:t>▸ 100% Schema Agnostic</a:t>
            </a:r>
          </a:p>
          <a:p>
            <a:pPr>
              <a:defRPr sz="1000">
                <a:solidFill>
                  <a:srgbClr val="94A3B8"/>
                </a:solidFill>
              </a:defRPr>
            </a:pPr>
            <a:r>
              <a:t>Parses messy CSV, Excel, TXT, and EML records from all major Indian telecom and banking providers.</a:t>
            </a:r>
          </a:p>
          <a:p>
            <a:br/>
            <a:pPr>
              <a:defRPr sz="1150" b="1">
                <a:solidFill>
                  <a:srgbClr val="38BDF8"/>
                </a:solidFill>
              </a:defRPr>
            </a:pPr>
            <a:r>
              <a:t>▸ Multi-Case Syndicate Discovery</a:t>
            </a:r>
          </a:p>
          <a:p>
            <a:pPr>
              <a:defRPr sz="1000">
                <a:solidFill>
                  <a:srgbClr val="94A3B8"/>
                </a:solidFill>
              </a:defRPr>
            </a:pPr>
            <a:r>
              <a:t>Instantly flags when a mule UPI or phone number has appeared in other police cases.</a:t>
            </a:r>
          </a:p>
          <a:p>
            <a:br/>
            <a:pPr>
              <a:defRPr sz="1150" b="1">
                <a:solidFill>
                  <a:srgbClr val="38BDF8"/>
                </a:solidFill>
              </a:defRPr>
            </a:pPr>
            <a:r>
              <a:t>▸ Dual-Mode Operational UX</a:t>
            </a:r>
          </a:p>
          <a:p>
            <a:pPr>
              <a:defRPr sz="1000">
                <a:solidFill>
                  <a:srgbClr val="94A3B8"/>
                </a:solidFill>
              </a:defRPr>
            </a:pPr>
            <a:r>
              <a:t>Tactical Dark SOC Mode for forensic specialists + Standard Light Government Portal for courtroom &amp; senior administration.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a:spAutoFit/>
          </a:bodyPr>
          <a:lstStyle/>
          <a:p>
            <a:pPr>
              <a:defRPr sz="1000" b="1">
                <a:solidFill>
                  <a:srgbClr val="00D4FF"/>
                </a:solidFill>
                <a:latin typeface="Arial"/>
              </a:defRPr>
            </a:pPr>
            <a:r>
              <a:t>SYSTEM WORKFLOW &amp; PIPELINE</a:t>
            </a:r>
          </a:p>
        </p:txBody>
      </p:sp>
      <p:sp>
        <p:nvSpPr>
          <p:cNvPr id="4" name="TextBox 3"/>
          <p:cNvSpPr txBox="1"/>
          <p:nvPr/>
        </p:nvSpPr>
        <p:spPr>
          <a:xfrm>
            <a:off x="731520" y="621792"/>
            <a:ext cx="9601200" cy="594360"/>
          </a:xfrm>
          <a:prstGeom prst="rect">
            <a:avLst/>
          </a:prstGeom>
          <a:noFill/>
        </p:spPr>
        <p:txBody>
          <a:bodyPr wrap="square">
            <a:spAutoFit/>
          </a:bodyPr>
          <a:lstStyle/>
          <a:p>
            <a:pPr>
              <a:defRPr sz="2200" b="1">
                <a:solidFill>
                  <a:srgbClr val="FFFFFF"/>
                </a:solidFill>
                <a:latin typeface="Arial"/>
              </a:defRPr>
            </a:pPr>
            <a:r>
              <a:t>End-to-End Investigative Architecture</a:t>
            </a:r>
          </a:p>
        </p:txBody>
      </p:sp>
      <p:sp>
        <p:nvSpPr>
          <p:cNvPr id="5" name="TextBox 4"/>
          <p:cNvSpPr txBox="1"/>
          <p:nvPr/>
        </p:nvSpPr>
        <p:spPr>
          <a:xfrm>
            <a:off x="8686800" y="365760"/>
            <a:ext cx="2743200" cy="457200"/>
          </a:xfrm>
          <a:prstGeom prst="rect">
            <a:avLst/>
          </a:prstGeom>
          <a:noFill/>
        </p:spPr>
        <p:txBody>
          <a:bodyPr wrap="none">
            <a:spAutoFit/>
          </a:bodyPr>
          <a:lstStyle/>
          <a:p>
            <a:pPr algn="r">
              <a:defRPr sz="1100" b="1">
                <a:solidFill>
                  <a:srgbClr val="64748B"/>
                </a:solidFill>
                <a:latin typeface="Arial"/>
              </a:defRPr>
            </a:pPr>
            <a:r>
              <a:t>EPINOIA '26  |  04 / 09</a:t>
            </a:r>
          </a:p>
        </p:txBody>
      </p:sp>
      <p:sp>
        <p:nvSpPr>
          <p:cNvPr id="6" name="Rounded Rectangle 5"/>
          <p:cNvSpPr/>
          <p:nvPr/>
        </p:nvSpPr>
        <p:spPr>
          <a:xfrm>
            <a:off x="731520" y="1463040"/>
            <a:ext cx="2468880" cy="4663440"/>
          </a:xfrm>
          <a:prstGeom prst="roundRect">
            <a:avLst/>
          </a:prstGeom>
          <a:solidFill>
            <a:srgbClr val="131E32"/>
          </a:solidFill>
          <a:ln w="12700">
            <a:solidFill>
              <a:srgbClr val="25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600200"/>
            <a:ext cx="2194560" cy="4389120"/>
          </a:xfrm>
          <a:prstGeom prst="rect">
            <a:avLst/>
          </a:prstGeom>
          <a:noFill/>
        </p:spPr>
        <p:txBody>
          <a:bodyPr wrap="square">
            <a:spAutoFit/>
          </a:bodyPr>
          <a:lstStyle/>
          <a:p>
            <a:pPr>
              <a:defRPr sz="1050" b="1">
                <a:solidFill>
                  <a:srgbClr val="00D4FF"/>
                </a:solidFill>
              </a:defRPr>
            </a:pPr>
            <a:r>
              <a:t>STEP 01</a:t>
            </a:r>
          </a:p>
          <a:p>
            <a:pPr>
              <a:defRPr sz="1300" b="1">
                <a:solidFill>
                  <a:srgbClr val="FFFFFF"/>
                </a:solidFill>
              </a:defRPr>
            </a:pPr>
            <a:r>
              <a:t>INGESTION &amp; ETL</a:t>
            </a:r>
          </a:p>
          <a:p>
            <a:br/>
            <a:pPr>
              <a:defRPr sz="1050" b="1">
                <a:solidFill>
                  <a:srgbClr val="00D4FF"/>
                </a:solidFill>
              </a:defRPr>
            </a:pPr>
            <a:r>
              <a:t>▸ Raw File Uploads</a:t>
            </a:r>
          </a:p>
          <a:p>
            <a:pPr>
              <a:defRPr sz="950">
                <a:solidFill>
                  <a:srgbClr val="94A3B8"/>
                </a:solidFill>
              </a:defRPr>
            </a:pPr>
            <a:r>
              <a:t>CDR, Bank Excel, UPI statements, Device Logs, .eml headers.</a:t>
            </a:r>
          </a:p>
          <a:p>
            <a:br/>
            <a:pPr>
              <a:defRPr sz="1050" b="1">
                <a:solidFill>
                  <a:srgbClr val="00D4FF"/>
                </a:solidFill>
              </a:defRPr>
            </a:pPr>
            <a:r>
              <a:t>▸ Sanitization Engine</a:t>
            </a:r>
          </a:p>
          <a:p>
            <a:pPr>
              <a:defRPr sz="950">
                <a:solidFill>
                  <a:srgbClr val="94A3B8"/>
                </a:solidFill>
              </a:defRPr>
            </a:pPr>
            <a:r>
              <a:t>E.164 phone standardizer, UPI VPA cleanups, IFSC validator.</a:t>
            </a:r>
          </a:p>
          <a:p>
            <a:br/>
            <a:pPr>
              <a:defRPr sz="1050" b="1">
                <a:solidFill>
                  <a:srgbClr val="00D4FF"/>
                </a:solidFill>
              </a:defRPr>
            </a:pPr>
            <a:r>
              <a:t>▸ Evidence Registry</a:t>
            </a:r>
          </a:p>
          <a:p>
            <a:pPr>
              <a:defRPr sz="950">
                <a:solidFill>
                  <a:srgbClr val="94A3B8"/>
                </a:solidFill>
              </a:defRPr>
            </a:pPr>
            <a:r>
              <a:t>File hash sealing and metadata indexing in database.</a:t>
            </a:r>
          </a:p>
        </p:txBody>
      </p:sp>
      <p:sp>
        <p:nvSpPr>
          <p:cNvPr id="8" name="Rounded Rectangle 7"/>
          <p:cNvSpPr/>
          <p:nvPr/>
        </p:nvSpPr>
        <p:spPr>
          <a:xfrm>
            <a:off x="3474720" y="1463040"/>
            <a:ext cx="2468880" cy="4663440"/>
          </a:xfrm>
          <a:prstGeom prst="roundRect">
            <a:avLst/>
          </a:prstGeom>
          <a:solidFill>
            <a:srgbClr val="131E32"/>
          </a:solidFill>
          <a:ln w="12700">
            <a:solidFill>
              <a:srgbClr val="25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11880" y="1600200"/>
            <a:ext cx="2194560" cy="4389120"/>
          </a:xfrm>
          <a:prstGeom prst="rect">
            <a:avLst/>
          </a:prstGeom>
          <a:noFill/>
        </p:spPr>
        <p:txBody>
          <a:bodyPr wrap="square">
            <a:spAutoFit/>
          </a:bodyPr>
          <a:lstStyle/>
          <a:p>
            <a:pPr>
              <a:defRPr sz="1050" b="1">
                <a:solidFill>
                  <a:srgbClr val="818CF8"/>
                </a:solidFill>
              </a:defRPr>
            </a:pPr>
            <a:r>
              <a:t>STEP 02</a:t>
            </a:r>
          </a:p>
          <a:p>
            <a:pPr>
              <a:defRPr sz="1300" b="1">
                <a:solidFill>
                  <a:srgbClr val="FFFFFF"/>
                </a:solidFill>
              </a:defRPr>
            </a:pPr>
            <a:r>
              <a:t>GRAPH CORRELATION</a:t>
            </a:r>
          </a:p>
          <a:p>
            <a:br/>
            <a:pPr>
              <a:defRPr sz="1050" b="1">
                <a:solidFill>
                  <a:srgbClr val="818CF8"/>
                </a:solidFill>
              </a:defRPr>
            </a:pPr>
            <a:r>
              <a:t>▸ Entity Extraction</a:t>
            </a:r>
          </a:p>
          <a:p>
            <a:pPr>
              <a:defRPr sz="950">
                <a:solidFill>
                  <a:srgbClr val="94A3B8"/>
                </a:solidFill>
              </a:defRPr>
            </a:pPr>
            <a:r>
              <a:t>Isolates Phones, Accounts, VPAs, IPs, IMEIs, Domains.</a:t>
            </a:r>
          </a:p>
          <a:p>
            <a:br/>
            <a:pPr>
              <a:defRPr sz="1050" b="1">
                <a:solidFill>
                  <a:srgbClr val="818CF8"/>
                </a:solidFill>
              </a:defRPr>
            </a:pPr>
            <a:r>
              <a:t>▸ Multi-Hop Graph</a:t>
            </a:r>
          </a:p>
          <a:p>
            <a:pPr>
              <a:defRPr sz="950">
                <a:solidFill>
                  <a:srgbClr val="94A3B8"/>
                </a:solidFill>
              </a:defRPr>
            </a:pPr>
            <a:r>
              <a:t>NetworkX engine resolves 1st, 2nd, and 3rd-degree connection hops.</a:t>
            </a:r>
          </a:p>
          <a:p>
            <a:br/>
            <a:pPr>
              <a:defRPr sz="1050" b="1">
                <a:solidFill>
                  <a:srgbClr val="818CF8"/>
                </a:solidFill>
              </a:defRPr>
            </a:pPr>
            <a:r>
              <a:t>▸ Syndicate Matching</a:t>
            </a:r>
          </a:p>
          <a:p>
            <a:pPr>
              <a:defRPr sz="950">
                <a:solidFill>
                  <a:srgbClr val="94A3B8"/>
                </a:solidFill>
              </a:defRPr>
            </a:pPr>
            <a:r>
              <a:t>Auto-links cross-case overlap across different FIRs.</a:t>
            </a:r>
          </a:p>
        </p:txBody>
      </p:sp>
      <p:sp>
        <p:nvSpPr>
          <p:cNvPr id="10" name="Rounded Rectangle 9"/>
          <p:cNvSpPr/>
          <p:nvPr/>
        </p:nvSpPr>
        <p:spPr>
          <a:xfrm>
            <a:off x="6217920" y="1463040"/>
            <a:ext cx="2468880" cy="4663440"/>
          </a:xfrm>
          <a:prstGeom prst="roundRect">
            <a:avLst/>
          </a:prstGeom>
          <a:solidFill>
            <a:srgbClr val="131E32"/>
          </a:solidFill>
          <a:ln w="12700">
            <a:solidFill>
              <a:srgbClr val="25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00200"/>
            <a:ext cx="2194560" cy="4389120"/>
          </a:xfrm>
          <a:prstGeom prst="rect">
            <a:avLst/>
          </a:prstGeom>
          <a:noFill/>
        </p:spPr>
        <p:txBody>
          <a:bodyPr wrap="square">
            <a:spAutoFit/>
          </a:bodyPr>
          <a:lstStyle/>
          <a:p>
            <a:pPr>
              <a:defRPr sz="1050" b="1">
                <a:solidFill>
                  <a:srgbClr val="F43F5E"/>
                </a:solidFill>
              </a:defRPr>
            </a:pPr>
            <a:r>
              <a:t>STEP 03</a:t>
            </a:r>
          </a:p>
          <a:p>
            <a:pPr>
              <a:defRPr sz="1300" b="1">
                <a:solidFill>
                  <a:srgbClr val="FFFFFF"/>
                </a:solidFill>
              </a:defRPr>
            </a:pPr>
            <a:r>
              <a:t>RISK SCORING</a:t>
            </a:r>
          </a:p>
          <a:p>
            <a:br/>
            <a:pPr>
              <a:defRPr sz="1050" b="1">
                <a:solidFill>
                  <a:srgbClr val="F43F5E"/>
                </a:solidFill>
              </a:defRPr>
            </a:pPr>
            <a:r>
              <a:t>▸ Scam Profiles</a:t>
            </a:r>
          </a:p>
          <a:p>
            <a:pPr>
              <a:defRPr sz="950">
                <a:solidFill>
                  <a:srgbClr val="94A3B8"/>
                </a:solidFill>
              </a:defRPr>
            </a:pPr>
            <a:r>
              <a:t>Profile-weighted rules for UPI scam, investment fraud, sextortion.</a:t>
            </a:r>
          </a:p>
          <a:p>
            <a:br/>
            <a:pPr>
              <a:defRPr sz="1050" b="1">
                <a:solidFill>
                  <a:srgbClr val="F43F5E"/>
                </a:solidFill>
              </a:defRPr>
            </a:pPr>
            <a:r>
              <a:t>▸ Velocity Heuristics</a:t>
            </a:r>
          </a:p>
          <a:p>
            <a:pPr>
              <a:defRPr sz="950">
                <a:solidFill>
                  <a:srgbClr val="94A3B8"/>
                </a:solidFill>
              </a:defRPr>
            </a:pPr>
            <a:r>
              <a:t>Rapid fund transfer detection across mule accounts.</a:t>
            </a:r>
          </a:p>
          <a:p>
            <a:br/>
            <a:pPr>
              <a:defRPr sz="1050" b="1">
                <a:solidFill>
                  <a:srgbClr val="F43F5E"/>
                </a:solidFill>
              </a:defRPr>
            </a:pPr>
            <a:r>
              <a:t>▸ Composite Score</a:t>
            </a:r>
          </a:p>
          <a:p>
            <a:pPr>
              <a:defRPr sz="950">
                <a:solidFill>
                  <a:srgbClr val="94A3B8"/>
                </a:solidFill>
              </a:defRPr>
            </a:pPr>
            <a:r>
              <a:t>Calculates 0-100 severity rating with confidence weights.</a:t>
            </a:r>
          </a:p>
        </p:txBody>
      </p:sp>
      <p:sp>
        <p:nvSpPr>
          <p:cNvPr id="12" name="Rounded Rectangle 11"/>
          <p:cNvSpPr/>
          <p:nvPr/>
        </p:nvSpPr>
        <p:spPr>
          <a:xfrm>
            <a:off x="8961120" y="1463040"/>
            <a:ext cx="2468880" cy="4663440"/>
          </a:xfrm>
          <a:prstGeom prst="roundRect">
            <a:avLst/>
          </a:prstGeom>
          <a:solidFill>
            <a:srgbClr val="131E32"/>
          </a:solidFill>
          <a:ln w="12700">
            <a:solidFill>
              <a:srgbClr val="25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98280" y="1600200"/>
            <a:ext cx="2194560" cy="4389120"/>
          </a:xfrm>
          <a:prstGeom prst="rect">
            <a:avLst/>
          </a:prstGeom>
          <a:noFill/>
        </p:spPr>
        <p:txBody>
          <a:bodyPr wrap="square">
            <a:spAutoFit/>
          </a:bodyPr>
          <a:lstStyle/>
          <a:p>
            <a:pPr>
              <a:defRPr sz="1050" b="1">
                <a:solidFill>
                  <a:srgbClr val="10B981"/>
                </a:solidFill>
              </a:defRPr>
            </a:pPr>
            <a:r>
              <a:t>STEP 04</a:t>
            </a:r>
          </a:p>
          <a:p>
            <a:pPr>
              <a:defRPr sz="1300" b="1">
                <a:solidFill>
                  <a:srgbClr val="FFFFFF"/>
                </a:solidFill>
              </a:defRPr>
            </a:pPr>
            <a:r>
              <a:t>ACTION &amp; REPORT</a:t>
            </a:r>
          </a:p>
          <a:p>
            <a:br/>
            <a:pPr>
              <a:defRPr sz="1050" b="1">
                <a:solidFill>
                  <a:srgbClr val="10B981"/>
                </a:solidFill>
              </a:defRPr>
            </a:pPr>
            <a:r>
              <a:t>▸ Interactive SOC Graph</a:t>
            </a:r>
          </a:p>
          <a:p>
            <a:pPr>
              <a:defRPr sz="950">
                <a:solidFill>
                  <a:srgbClr val="94A3B8"/>
                </a:solidFill>
              </a:defRPr>
            </a:pPr>
            <a:r>
              <a:t>Clustered force layout with physics pause and entity filters.</a:t>
            </a:r>
          </a:p>
          <a:p>
            <a:br/>
            <a:pPr>
              <a:defRPr sz="1050" b="1">
                <a:solidFill>
                  <a:srgbClr val="10B981"/>
                </a:solidFill>
              </a:defRPr>
            </a:pPr>
            <a:r>
              <a:t>▸ Statutory Directives</a:t>
            </a:r>
          </a:p>
          <a:p>
            <a:pPr>
              <a:defRPr sz="950">
                <a:solidFill>
                  <a:srgbClr val="94A3B8"/>
                </a:solidFill>
              </a:defRPr>
            </a:pPr>
            <a:r>
              <a:t>Auto-drafts Sec 91 CrPC and Sec 69A IT Act PDF orders.</a:t>
            </a:r>
          </a:p>
          <a:p>
            <a:br/>
            <a:pPr>
              <a:defRPr sz="1050" b="1">
                <a:solidFill>
                  <a:srgbClr val="10B981"/>
                </a:solidFill>
              </a:defRPr>
            </a:pPr>
            <a:r>
              <a:t>▸ Forensic Co-Pilot</a:t>
            </a:r>
          </a:p>
          <a:p>
            <a:pPr>
              <a:defRPr sz="950">
                <a:solidFill>
                  <a:srgbClr val="94A3B8"/>
                </a:solidFill>
              </a:defRPr>
            </a:pPr>
            <a:r>
              <a:t>AI chat assistant answers grounded case queries.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a:spAutoFit/>
          </a:bodyPr>
          <a:lstStyle/>
          <a:p>
            <a:pPr>
              <a:defRPr sz="1000" b="1">
                <a:solidFill>
                  <a:srgbClr val="00D4FF"/>
                </a:solidFill>
                <a:latin typeface="Arial"/>
              </a:defRPr>
            </a:pPr>
            <a:r>
              <a:t>PRODUCT CAPABILITIES</a:t>
            </a:r>
          </a:p>
        </p:txBody>
      </p:sp>
      <p:sp>
        <p:nvSpPr>
          <p:cNvPr id="4" name="TextBox 3"/>
          <p:cNvSpPr txBox="1"/>
          <p:nvPr/>
        </p:nvSpPr>
        <p:spPr>
          <a:xfrm>
            <a:off x="731520" y="621792"/>
            <a:ext cx="9601200" cy="594360"/>
          </a:xfrm>
          <a:prstGeom prst="rect">
            <a:avLst/>
          </a:prstGeom>
          <a:noFill/>
        </p:spPr>
        <p:txBody>
          <a:bodyPr wrap="square">
            <a:spAutoFit/>
          </a:bodyPr>
          <a:lstStyle/>
          <a:p>
            <a:pPr>
              <a:defRPr sz="2200" b="1">
                <a:solidFill>
                  <a:srgbClr val="FFFFFF"/>
                </a:solidFill>
                <a:latin typeface="Arial"/>
              </a:defRPr>
            </a:pPr>
            <a:r>
              <a:t>6 Production-Ready Core Features</a:t>
            </a:r>
          </a:p>
        </p:txBody>
      </p:sp>
      <p:sp>
        <p:nvSpPr>
          <p:cNvPr id="5" name="TextBox 4"/>
          <p:cNvSpPr txBox="1"/>
          <p:nvPr/>
        </p:nvSpPr>
        <p:spPr>
          <a:xfrm>
            <a:off x="8686800" y="365760"/>
            <a:ext cx="2743200" cy="457200"/>
          </a:xfrm>
          <a:prstGeom prst="rect">
            <a:avLst/>
          </a:prstGeom>
          <a:noFill/>
        </p:spPr>
        <p:txBody>
          <a:bodyPr wrap="none">
            <a:spAutoFit/>
          </a:bodyPr>
          <a:lstStyle/>
          <a:p>
            <a:pPr algn="r">
              <a:defRPr sz="1100" b="1">
                <a:solidFill>
                  <a:srgbClr val="64748B"/>
                </a:solidFill>
                <a:latin typeface="Arial"/>
              </a:defRPr>
            </a:pPr>
            <a:r>
              <a:t>EPINOIA '26  |  05 / 09</a:t>
            </a:r>
          </a:p>
        </p:txBody>
      </p:sp>
      <p:sp>
        <p:nvSpPr>
          <p:cNvPr id="6" name="Rounded Rectangle 5"/>
          <p:cNvSpPr/>
          <p:nvPr/>
        </p:nvSpPr>
        <p:spPr>
          <a:xfrm>
            <a:off x="731520" y="1371600"/>
            <a:ext cx="3328416" cy="2286000"/>
          </a:xfrm>
          <a:prstGeom prst="roundRect">
            <a:avLst/>
          </a:prstGeom>
          <a:solidFill>
            <a:srgbClr val="131E32"/>
          </a:solidFill>
          <a:ln w="12700">
            <a:solidFill>
              <a:srgbClr val="25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81328"/>
            <a:ext cx="3054096" cy="2066544"/>
          </a:xfrm>
          <a:prstGeom prst="rect">
            <a:avLst/>
          </a:prstGeom>
          <a:noFill/>
        </p:spPr>
        <p:txBody>
          <a:bodyPr wrap="square">
            <a:spAutoFit/>
          </a:bodyPr>
          <a:lstStyle/>
          <a:p>
            <a:pPr>
              <a:defRPr sz="1200" b="1">
                <a:solidFill>
                  <a:srgbClr val="00D4FF"/>
                </a:solidFill>
              </a:defRPr>
            </a:pPr>
            <a:r>
              <a:t>Heterogeneous Evidence ETL</a:t>
            </a:r>
          </a:p>
          <a:p>
            <a:pPr>
              <a:defRPr sz="850">
                <a:solidFill>
                  <a:srgbClr val="64748B"/>
                </a:solidFill>
              </a:defRPr>
            </a:pPr>
            <a:r>
              <a:t>Module: backend/app/services/ingestion</a:t>
            </a:r>
          </a:p>
          <a:p>
            <a:br/>
            <a:pPr>
              <a:defRPr sz="950">
                <a:solidFill>
                  <a:srgbClr val="94A3B8"/>
                </a:solidFill>
              </a:defRPr>
            </a:pPr>
            <a:r>
              <a:t>Ingests and parses CDRs, Bank statements, UPI sheets, IPDRs, and .eml email headers into normalized entity records.</a:t>
            </a:r>
          </a:p>
        </p:txBody>
      </p:sp>
      <p:sp>
        <p:nvSpPr>
          <p:cNvPr id="8" name="Rounded Rectangle 7"/>
          <p:cNvSpPr/>
          <p:nvPr/>
        </p:nvSpPr>
        <p:spPr>
          <a:xfrm>
            <a:off x="4425696" y="1371600"/>
            <a:ext cx="3328416" cy="2286000"/>
          </a:xfrm>
          <a:prstGeom prst="roundRect">
            <a:avLst/>
          </a:prstGeom>
          <a:solidFill>
            <a:srgbClr val="131E32"/>
          </a:solidFill>
          <a:ln w="12700">
            <a:solidFill>
              <a:srgbClr val="25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62856" y="1481328"/>
            <a:ext cx="3054096" cy="2066544"/>
          </a:xfrm>
          <a:prstGeom prst="rect">
            <a:avLst/>
          </a:prstGeom>
          <a:noFill/>
        </p:spPr>
        <p:txBody>
          <a:bodyPr wrap="square">
            <a:spAutoFit/>
          </a:bodyPr>
          <a:lstStyle/>
          <a:p>
            <a:pPr>
              <a:defRPr sz="1200" b="1">
                <a:solidFill>
                  <a:srgbClr val="818CF8"/>
                </a:solidFill>
              </a:defRPr>
            </a:pPr>
            <a:r>
              <a:t>Clustered Multi-Hop Graph</a:t>
            </a:r>
          </a:p>
          <a:p>
            <a:pPr>
              <a:defRPr sz="850">
                <a:solidFill>
                  <a:srgbClr val="64748B"/>
                </a:solidFill>
              </a:defRPr>
            </a:pPr>
            <a:r>
              <a:t>Module: frontend/src/pages/ConnectionsGraph.jsx</a:t>
            </a:r>
          </a:p>
          <a:p>
            <a:br/>
            <a:pPr>
              <a:defRPr sz="950">
                <a:solidFill>
                  <a:srgbClr val="94A3B8"/>
                </a:solidFill>
              </a:defRPr>
            </a:pPr>
            <a:r>
              <a:t>Force-directed interactive visualization with hub-and-spoke clustering, entity category color coding, and physics control.</a:t>
            </a:r>
          </a:p>
        </p:txBody>
      </p:sp>
      <p:sp>
        <p:nvSpPr>
          <p:cNvPr id="10" name="Rounded Rectangle 9"/>
          <p:cNvSpPr/>
          <p:nvPr/>
        </p:nvSpPr>
        <p:spPr>
          <a:xfrm>
            <a:off x="8119872" y="1371600"/>
            <a:ext cx="3328416" cy="2286000"/>
          </a:xfrm>
          <a:prstGeom prst="roundRect">
            <a:avLst/>
          </a:prstGeom>
          <a:solidFill>
            <a:srgbClr val="131E32"/>
          </a:solidFill>
          <a:ln w="12700">
            <a:solidFill>
              <a:srgbClr val="25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57032" y="1481328"/>
            <a:ext cx="3054096" cy="2066544"/>
          </a:xfrm>
          <a:prstGeom prst="rect">
            <a:avLst/>
          </a:prstGeom>
          <a:noFill/>
        </p:spPr>
        <p:txBody>
          <a:bodyPr wrap="square">
            <a:spAutoFit/>
          </a:bodyPr>
          <a:lstStyle/>
          <a:p>
            <a:pPr>
              <a:defRPr sz="1200" b="1">
                <a:solidFill>
                  <a:srgbClr val="F43F5E"/>
                </a:solidFill>
              </a:defRPr>
            </a:pPr>
            <a:r>
              <a:t>Dynamic Scam-Profile Risk Scoring</a:t>
            </a:r>
          </a:p>
          <a:p>
            <a:pPr>
              <a:defRPr sz="850">
                <a:solidFill>
                  <a:srgbClr val="64748B"/>
                </a:solidFill>
              </a:defRPr>
            </a:pPr>
            <a:r>
              <a:t>Module: backend/app/services/risk</a:t>
            </a:r>
          </a:p>
          <a:p>
            <a:br/>
            <a:pPr>
              <a:defRPr sz="950">
                <a:solidFill>
                  <a:srgbClr val="94A3B8"/>
                </a:solidFill>
              </a:defRPr>
            </a:pPr>
            <a:r>
              <a:t>Calculates composite 0-100 threat scores using transaction velocity, shared mule accounts, and burner SIM patterns.</a:t>
            </a:r>
          </a:p>
        </p:txBody>
      </p:sp>
      <p:sp>
        <p:nvSpPr>
          <p:cNvPr id="12" name="Rounded Rectangle 11"/>
          <p:cNvSpPr/>
          <p:nvPr/>
        </p:nvSpPr>
        <p:spPr>
          <a:xfrm>
            <a:off x="731520" y="3886200"/>
            <a:ext cx="3328416" cy="2286000"/>
          </a:xfrm>
          <a:prstGeom prst="roundRect">
            <a:avLst/>
          </a:prstGeom>
          <a:solidFill>
            <a:srgbClr val="131E32"/>
          </a:solidFill>
          <a:ln w="12700">
            <a:solidFill>
              <a:srgbClr val="25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995928"/>
            <a:ext cx="3054096" cy="2066544"/>
          </a:xfrm>
          <a:prstGeom prst="rect">
            <a:avLst/>
          </a:prstGeom>
          <a:noFill/>
        </p:spPr>
        <p:txBody>
          <a:bodyPr wrap="square">
            <a:spAutoFit/>
          </a:bodyPr>
          <a:lstStyle/>
          <a:p>
            <a:pPr>
              <a:defRPr sz="1200" b="1">
                <a:solidFill>
                  <a:srgbClr val="10B981"/>
                </a:solidFill>
              </a:defRPr>
            </a:pPr>
            <a:r>
              <a:t>Automated Statutory Legal Orders</a:t>
            </a:r>
          </a:p>
          <a:p>
            <a:pPr>
              <a:defRPr sz="850">
                <a:solidFill>
                  <a:srgbClr val="64748B"/>
                </a:solidFill>
              </a:defRPr>
            </a:pPr>
            <a:r>
              <a:t>Module: backend/app/services/reports</a:t>
            </a:r>
          </a:p>
          <a:p>
            <a:br/>
            <a:pPr>
              <a:defRPr sz="950">
                <a:solidFill>
                  <a:srgbClr val="94A3B8"/>
                </a:solidFill>
              </a:defRPr>
            </a:pPr>
            <a:r>
              <a:t>Instant ReportLab generation of Section 91 CrPC Bank Freeze directives &amp; Section 69A IT Act Takedown orders with SHA-256 hash sealing.</a:t>
            </a:r>
          </a:p>
        </p:txBody>
      </p:sp>
      <p:sp>
        <p:nvSpPr>
          <p:cNvPr id="14" name="Rounded Rectangle 13"/>
          <p:cNvSpPr/>
          <p:nvPr/>
        </p:nvSpPr>
        <p:spPr>
          <a:xfrm>
            <a:off x="4425696" y="3886200"/>
            <a:ext cx="3328416" cy="2286000"/>
          </a:xfrm>
          <a:prstGeom prst="roundRect">
            <a:avLst/>
          </a:prstGeom>
          <a:solidFill>
            <a:srgbClr val="131E32"/>
          </a:solidFill>
          <a:ln w="12700">
            <a:solidFill>
              <a:srgbClr val="25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2856" y="3995928"/>
            <a:ext cx="3054096" cy="2066544"/>
          </a:xfrm>
          <a:prstGeom prst="rect">
            <a:avLst/>
          </a:prstGeom>
          <a:noFill/>
        </p:spPr>
        <p:txBody>
          <a:bodyPr wrap="square">
            <a:spAutoFit/>
          </a:bodyPr>
          <a:lstStyle/>
          <a:p>
            <a:pPr>
              <a:defRPr sz="1200" b="1">
                <a:solidFill>
                  <a:srgbClr val="38BDF8"/>
                </a:solidFill>
              </a:defRPr>
            </a:pPr>
            <a:r>
              <a:t>Grounded Cyber Intelligence Co-Pilot</a:t>
            </a:r>
          </a:p>
          <a:p>
            <a:pPr>
              <a:defRPr sz="850">
                <a:solidFill>
                  <a:srgbClr val="64748B"/>
                </a:solidFill>
              </a:defRPr>
            </a:pPr>
            <a:r>
              <a:t>Module: backend/app/services/ai</a:t>
            </a:r>
          </a:p>
          <a:p>
            <a:br/>
            <a:pPr>
              <a:defRPr sz="950">
                <a:solidFill>
                  <a:srgbClr val="94A3B8"/>
                </a:solidFill>
              </a:defRPr>
            </a:pPr>
            <a:r>
              <a:t>GPT-4o-mini powered investigative assistant with strict RAG case-grounding and seamless offline rule-based fallback.</a:t>
            </a:r>
          </a:p>
        </p:txBody>
      </p:sp>
      <p:sp>
        <p:nvSpPr>
          <p:cNvPr id="16" name="Rounded Rectangle 15"/>
          <p:cNvSpPr/>
          <p:nvPr/>
        </p:nvSpPr>
        <p:spPr>
          <a:xfrm>
            <a:off x="8119872" y="3886200"/>
            <a:ext cx="3328416" cy="2286000"/>
          </a:xfrm>
          <a:prstGeom prst="roundRect">
            <a:avLst/>
          </a:prstGeom>
          <a:solidFill>
            <a:srgbClr val="131E32"/>
          </a:solidFill>
          <a:ln w="12700">
            <a:solidFill>
              <a:srgbClr val="25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57032" y="3995928"/>
            <a:ext cx="3054096" cy="2066544"/>
          </a:xfrm>
          <a:prstGeom prst="rect">
            <a:avLst/>
          </a:prstGeom>
          <a:noFill/>
        </p:spPr>
        <p:txBody>
          <a:bodyPr wrap="square">
            <a:spAutoFit/>
          </a:bodyPr>
          <a:lstStyle/>
          <a:p>
            <a:pPr>
              <a:defRPr sz="1200" b="1">
                <a:solidFill>
                  <a:srgbClr val="F59E0B"/>
                </a:solidFill>
              </a:defRPr>
            </a:pPr>
            <a:r>
              <a:t>Dual Operational UX Architecture</a:t>
            </a:r>
          </a:p>
          <a:p>
            <a:pPr>
              <a:defRPr sz="850">
                <a:solidFill>
                  <a:srgbClr val="64748B"/>
                </a:solidFill>
              </a:defRPr>
            </a:pPr>
            <a:r>
              <a:t>Module: frontend/src/context/ModeContext.jsx</a:t>
            </a:r>
          </a:p>
          <a:p>
            <a:br/>
            <a:pPr>
              <a:defRPr sz="950">
                <a:solidFill>
                  <a:srgbClr val="94A3B8"/>
                </a:solidFill>
              </a:defRPr>
            </a:pPr>
            <a:r>
              <a:t>One-click switch between dark Tactical Analysis Mode (cyber SOC cockpit) and formal Standard Mode (government portal skin).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a:spAutoFit/>
          </a:bodyPr>
          <a:lstStyle/>
          <a:p>
            <a:pPr>
              <a:defRPr sz="1000" b="1">
                <a:solidFill>
                  <a:srgbClr val="00D4FF"/>
                </a:solidFill>
                <a:latin typeface="Arial"/>
              </a:defRPr>
            </a:pPr>
            <a:r>
              <a:t>TECHNICAL IMPLEMENTATION</a:t>
            </a:r>
          </a:p>
        </p:txBody>
      </p:sp>
      <p:sp>
        <p:nvSpPr>
          <p:cNvPr id="4" name="TextBox 3"/>
          <p:cNvSpPr txBox="1"/>
          <p:nvPr/>
        </p:nvSpPr>
        <p:spPr>
          <a:xfrm>
            <a:off x="731520" y="621792"/>
            <a:ext cx="9601200" cy="594360"/>
          </a:xfrm>
          <a:prstGeom prst="rect">
            <a:avLst/>
          </a:prstGeom>
          <a:noFill/>
        </p:spPr>
        <p:txBody>
          <a:bodyPr wrap="square">
            <a:spAutoFit/>
          </a:bodyPr>
          <a:lstStyle/>
          <a:p>
            <a:pPr>
              <a:defRPr sz="2200" b="1">
                <a:solidFill>
                  <a:srgbClr val="FFFFFF"/>
                </a:solidFill>
                <a:latin typeface="Arial"/>
              </a:defRPr>
            </a:pPr>
            <a:r>
              <a:t>Full-Stack Architecture &amp; Codebase Stack</a:t>
            </a:r>
          </a:p>
        </p:txBody>
      </p:sp>
      <p:sp>
        <p:nvSpPr>
          <p:cNvPr id="5" name="TextBox 4"/>
          <p:cNvSpPr txBox="1"/>
          <p:nvPr/>
        </p:nvSpPr>
        <p:spPr>
          <a:xfrm>
            <a:off x="8686800" y="365760"/>
            <a:ext cx="2743200" cy="457200"/>
          </a:xfrm>
          <a:prstGeom prst="rect">
            <a:avLst/>
          </a:prstGeom>
          <a:noFill/>
        </p:spPr>
        <p:txBody>
          <a:bodyPr wrap="none">
            <a:spAutoFit/>
          </a:bodyPr>
          <a:lstStyle/>
          <a:p>
            <a:pPr algn="r">
              <a:defRPr sz="1100" b="1">
                <a:solidFill>
                  <a:srgbClr val="64748B"/>
                </a:solidFill>
                <a:latin typeface="Arial"/>
              </a:defRPr>
            </a:pPr>
            <a:r>
              <a:t>EPINOIA '26  |  06 / 09</a:t>
            </a:r>
          </a:p>
        </p:txBody>
      </p:sp>
      <p:sp>
        <p:nvSpPr>
          <p:cNvPr id="6" name="Rounded Rectangle 5"/>
          <p:cNvSpPr/>
          <p:nvPr/>
        </p:nvSpPr>
        <p:spPr>
          <a:xfrm>
            <a:off x="731520" y="1371600"/>
            <a:ext cx="2468880" cy="4846320"/>
          </a:xfrm>
          <a:prstGeom prst="roundRect">
            <a:avLst/>
          </a:prstGeom>
          <a:solidFill>
            <a:srgbClr val="131E32"/>
          </a:solidFill>
          <a:ln w="12700">
            <a:solidFill>
              <a:srgbClr val="25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08760"/>
            <a:ext cx="2194560" cy="4572000"/>
          </a:xfrm>
          <a:prstGeom prst="rect">
            <a:avLst/>
          </a:prstGeom>
          <a:noFill/>
        </p:spPr>
        <p:txBody>
          <a:bodyPr wrap="square">
            <a:spAutoFit/>
          </a:bodyPr>
          <a:lstStyle/>
          <a:p>
            <a:pPr>
              <a:defRPr sz="1300" b="1">
                <a:solidFill>
                  <a:srgbClr val="00D4FF"/>
                </a:solidFill>
              </a:defRPr>
            </a:pPr>
            <a:r>
              <a:t>FRONTEND LAYER</a:t>
            </a:r>
          </a:p>
          <a:p>
            <a:br/>
            <a:pPr>
              <a:defRPr sz="1050" b="1">
                <a:solidFill>
                  <a:srgbClr val="FFFFFF"/>
                </a:solidFill>
              </a:defRPr>
            </a:pPr>
            <a:r>
              <a:t>▸ Core Framework</a:t>
            </a:r>
          </a:p>
          <a:p>
            <a:pPr>
              <a:defRPr sz="950">
                <a:solidFill>
                  <a:srgbClr val="94A3B8"/>
                </a:solidFill>
              </a:defRPr>
            </a:pPr>
            <a:r>
              <a:t>React 18 (SPA) + Vite 5</a:t>
            </a:r>
          </a:p>
          <a:p>
            <a:br/>
            <a:pPr>
              <a:defRPr sz="1050" b="1">
                <a:solidFill>
                  <a:srgbClr val="FFFFFF"/>
                </a:solidFill>
              </a:defRPr>
            </a:pPr>
            <a:r>
              <a:t>▸ Styling System</a:t>
            </a:r>
          </a:p>
          <a:p>
            <a:pPr>
              <a:defRPr sz="950">
                <a:solidFill>
                  <a:srgbClr val="94A3B8"/>
                </a:solidFill>
              </a:defRPr>
            </a:pPr>
            <a:r>
              <a:t>Tailwind CSS + Lucide Icons</a:t>
            </a:r>
          </a:p>
          <a:p>
            <a:br/>
            <a:pPr>
              <a:defRPr sz="1050" b="1">
                <a:solidFill>
                  <a:srgbClr val="FFFFFF"/>
                </a:solidFill>
              </a:defRPr>
            </a:pPr>
            <a:r>
              <a:t>▸ Client Routing</a:t>
            </a:r>
          </a:p>
          <a:p>
            <a:pPr>
              <a:defRPr sz="950">
                <a:solidFill>
                  <a:srgbClr val="94A3B8"/>
                </a:solidFill>
              </a:defRPr>
            </a:pPr>
            <a:r>
              <a:t>React Router DOM v6 with SPA rewrites</a:t>
            </a:r>
          </a:p>
          <a:p>
            <a:br/>
            <a:pPr>
              <a:defRPr sz="1050" b="1">
                <a:solidFill>
                  <a:srgbClr val="FFFFFF"/>
                </a:solidFill>
              </a:defRPr>
            </a:pPr>
            <a:r>
              <a:t>▸ Graph Engine</a:t>
            </a:r>
          </a:p>
          <a:p>
            <a:pPr>
              <a:defRPr sz="950">
                <a:solidFill>
                  <a:srgbClr val="94A3B8"/>
                </a:solidFill>
              </a:defRPr>
            </a:pPr>
            <a:r>
              <a:t>Interactive SVG Clustered Layout</a:t>
            </a:r>
          </a:p>
          <a:p>
            <a:br/>
            <a:pPr>
              <a:defRPr sz="1050" b="1">
                <a:solidFill>
                  <a:srgbClr val="FFFFFF"/>
                </a:solidFill>
              </a:defRPr>
            </a:pPr>
            <a:r>
              <a:t>▸ State &amp; Context</a:t>
            </a:r>
          </a:p>
          <a:p>
            <a:pPr>
              <a:defRPr sz="950">
                <a:solidFill>
                  <a:srgbClr val="94A3B8"/>
                </a:solidFill>
              </a:defRPr>
            </a:pPr>
            <a:r>
              <a:t>ModeContext (Analysis vs Standard)</a:t>
            </a:r>
          </a:p>
        </p:txBody>
      </p:sp>
      <p:sp>
        <p:nvSpPr>
          <p:cNvPr id="8" name="Rounded Rectangle 7"/>
          <p:cNvSpPr/>
          <p:nvPr/>
        </p:nvSpPr>
        <p:spPr>
          <a:xfrm>
            <a:off x="3474720" y="1371600"/>
            <a:ext cx="2468880" cy="4846320"/>
          </a:xfrm>
          <a:prstGeom prst="roundRect">
            <a:avLst/>
          </a:prstGeom>
          <a:solidFill>
            <a:srgbClr val="131E32"/>
          </a:solidFill>
          <a:ln w="12700">
            <a:solidFill>
              <a:srgbClr val="25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11880" y="1508760"/>
            <a:ext cx="2194560" cy="4572000"/>
          </a:xfrm>
          <a:prstGeom prst="rect">
            <a:avLst/>
          </a:prstGeom>
          <a:noFill/>
        </p:spPr>
        <p:txBody>
          <a:bodyPr wrap="square">
            <a:spAutoFit/>
          </a:bodyPr>
          <a:lstStyle/>
          <a:p>
            <a:pPr>
              <a:defRPr sz="1300" b="1">
                <a:solidFill>
                  <a:srgbClr val="818CF8"/>
                </a:solidFill>
              </a:defRPr>
            </a:pPr>
            <a:r>
              <a:t>BACKEND API LAYER</a:t>
            </a:r>
          </a:p>
          <a:p>
            <a:br/>
            <a:pPr>
              <a:defRPr sz="1050" b="1">
                <a:solidFill>
                  <a:srgbClr val="FFFFFF"/>
                </a:solidFill>
              </a:defRPr>
            </a:pPr>
            <a:r>
              <a:t>▸ Framework</a:t>
            </a:r>
          </a:p>
          <a:p>
            <a:pPr>
              <a:defRPr sz="950">
                <a:solidFill>
                  <a:srgbClr val="94A3B8"/>
                </a:solidFill>
              </a:defRPr>
            </a:pPr>
            <a:r>
              <a:t>Python 3.11+ / FastAPI (ASGI)</a:t>
            </a:r>
          </a:p>
          <a:p>
            <a:br/>
            <a:pPr>
              <a:defRPr sz="1050" b="1">
                <a:solidFill>
                  <a:srgbClr val="FFFFFF"/>
                </a:solidFill>
              </a:defRPr>
            </a:pPr>
            <a:r>
              <a:t>▸ Web Server</a:t>
            </a:r>
          </a:p>
          <a:p>
            <a:pPr>
              <a:defRPr sz="950">
                <a:solidFill>
                  <a:srgbClr val="94A3B8"/>
                </a:solidFill>
              </a:defRPr>
            </a:pPr>
            <a:r>
              <a:t>Uvicorn high-concurrency server</a:t>
            </a:r>
          </a:p>
          <a:p>
            <a:br/>
            <a:pPr>
              <a:defRPr sz="1050" b="1">
                <a:solidFill>
                  <a:srgbClr val="FFFFFF"/>
                </a:solidFill>
              </a:defRPr>
            </a:pPr>
            <a:r>
              <a:t>▸ Data Schemas</a:t>
            </a:r>
          </a:p>
          <a:p>
            <a:pPr>
              <a:defRPr sz="950">
                <a:solidFill>
                  <a:srgbClr val="94A3B8"/>
                </a:solidFill>
              </a:defRPr>
            </a:pPr>
            <a:r>
              <a:t>Pydantic v2 strict typing</a:t>
            </a:r>
          </a:p>
          <a:p>
            <a:br/>
            <a:pPr>
              <a:defRPr sz="1050" b="1">
                <a:solidFill>
                  <a:srgbClr val="FFFFFF"/>
                </a:solidFill>
              </a:defRPr>
            </a:pPr>
            <a:r>
              <a:t>▸ Security &amp; Auth</a:t>
            </a:r>
          </a:p>
          <a:p>
            <a:pPr>
              <a:defRPr sz="950">
                <a:solidFill>
                  <a:srgbClr val="94A3B8"/>
                </a:solidFill>
              </a:defRPr>
            </a:pPr>
            <a:r>
              <a:t>OAuth2 JWT (HS256) + Bcrypt</a:t>
            </a:r>
          </a:p>
          <a:p>
            <a:br/>
            <a:pPr>
              <a:defRPr sz="1050" b="1">
                <a:solidFill>
                  <a:srgbClr val="FFFFFF"/>
                </a:solidFill>
              </a:defRPr>
            </a:pPr>
            <a:r>
              <a:t>▸ CORS &amp; Network</a:t>
            </a:r>
          </a:p>
          <a:p>
            <a:pPr>
              <a:defRPr sz="950">
                <a:solidFill>
                  <a:srgbClr val="94A3B8"/>
                </a:solidFill>
              </a:defRPr>
            </a:pPr>
            <a:r>
              <a:t>Dual local + onrender.com regex</a:t>
            </a:r>
          </a:p>
        </p:txBody>
      </p:sp>
      <p:sp>
        <p:nvSpPr>
          <p:cNvPr id="10" name="Rounded Rectangle 9"/>
          <p:cNvSpPr/>
          <p:nvPr/>
        </p:nvSpPr>
        <p:spPr>
          <a:xfrm>
            <a:off x="6217920" y="1371600"/>
            <a:ext cx="2468880" cy="4846320"/>
          </a:xfrm>
          <a:prstGeom prst="roundRect">
            <a:avLst/>
          </a:prstGeom>
          <a:solidFill>
            <a:srgbClr val="131E32"/>
          </a:solidFill>
          <a:ln w="12700">
            <a:solidFill>
              <a:srgbClr val="25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508760"/>
            <a:ext cx="2194560" cy="4572000"/>
          </a:xfrm>
          <a:prstGeom prst="rect">
            <a:avLst/>
          </a:prstGeom>
          <a:noFill/>
        </p:spPr>
        <p:txBody>
          <a:bodyPr wrap="square">
            <a:spAutoFit/>
          </a:bodyPr>
          <a:lstStyle/>
          <a:p>
            <a:pPr>
              <a:defRPr sz="1300" b="1">
                <a:solidFill>
                  <a:srgbClr val="F43F5E"/>
                </a:solidFill>
              </a:defRPr>
            </a:pPr>
            <a:r>
              <a:t>ANALYTICS &amp; AI CORE</a:t>
            </a:r>
          </a:p>
          <a:p>
            <a:br/>
            <a:pPr>
              <a:defRPr sz="1050" b="1">
                <a:solidFill>
                  <a:srgbClr val="FFFFFF"/>
                </a:solidFill>
              </a:defRPr>
            </a:pPr>
            <a:r>
              <a:t>▸ Graph Theory</a:t>
            </a:r>
          </a:p>
          <a:p>
            <a:pPr>
              <a:defRPr sz="950">
                <a:solidFill>
                  <a:srgbClr val="94A3B8"/>
                </a:solidFill>
              </a:defRPr>
            </a:pPr>
            <a:r>
              <a:t>NetworkX multi-hop entity graphs</a:t>
            </a:r>
          </a:p>
          <a:p>
            <a:br/>
            <a:pPr>
              <a:defRPr sz="1050" b="1">
                <a:solidFill>
                  <a:srgbClr val="FFFFFF"/>
                </a:solidFill>
              </a:defRPr>
            </a:pPr>
            <a:r>
              <a:t>▸ Evidence Parsing</a:t>
            </a:r>
          </a:p>
          <a:p>
            <a:pPr>
              <a:defRPr sz="950">
                <a:solidFill>
                  <a:srgbClr val="94A3B8"/>
                </a:solidFill>
              </a:defRPr>
            </a:pPr>
            <a:r>
              <a:t>Pandas + OpenPyXL tabular ETL</a:t>
            </a:r>
          </a:p>
          <a:p>
            <a:br/>
            <a:pPr>
              <a:defRPr sz="1050" b="1">
                <a:solidFill>
                  <a:srgbClr val="FFFFFF"/>
                </a:solidFill>
              </a:defRPr>
            </a:pPr>
            <a:r>
              <a:t>▸ AI Assistant</a:t>
            </a:r>
          </a:p>
          <a:p>
            <a:pPr>
              <a:defRPr sz="950">
                <a:solidFill>
                  <a:srgbClr val="94A3B8"/>
                </a:solidFill>
              </a:defRPr>
            </a:pPr>
            <a:r>
              <a:t>GPT-4o-mini with Grounded RAG</a:t>
            </a:r>
          </a:p>
          <a:p>
            <a:br/>
            <a:pPr>
              <a:defRPr sz="1050" b="1">
                <a:solidFill>
                  <a:srgbClr val="FFFFFF"/>
                </a:solidFill>
              </a:defRPr>
            </a:pPr>
            <a:r>
              <a:t>▸ Failover Safety</a:t>
            </a:r>
          </a:p>
          <a:p>
            <a:pPr>
              <a:defRPr sz="950">
                <a:solidFill>
                  <a:srgbClr val="94A3B8"/>
                </a:solidFill>
              </a:defRPr>
            </a:pPr>
            <a:r>
              <a:t>Deterministic offline rule engine</a:t>
            </a:r>
          </a:p>
          <a:p>
            <a:br/>
            <a:pPr>
              <a:defRPr sz="1050" b="1">
                <a:solidFill>
                  <a:srgbClr val="FFFFFF"/>
                </a:solidFill>
              </a:defRPr>
            </a:pPr>
            <a:r>
              <a:t>▸ Scam Profiles</a:t>
            </a:r>
          </a:p>
          <a:p>
            <a:pPr>
              <a:defRPr sz="950">
                <a:solidFill>
                  <a:srgbClr val="94A3B8"/>
                </a:solidFill>
              </a:defRPr>
            </a:pPr>
            <a:r>
              <a:t>Custom heuristic weighting models</a:t>
            </a:r>
          </a:p>
        </p:txBody>
      </p:sp>
      <p:sp>
        <p:nvSpPr>
          <p:cNvPr id="12" name="Rounded Rectangle 11"/>
          <p:cNvSpPr/>
          <p:nvPr/>
        </p:nvSpPr>
        <p:spPr>
          <a:xfrm>
            <a:off x="8961120" y="1371600"/>
            <a:ext cx="2468880" cy="4846320"/>
          </a:xfrm>
          <a:prstGeom prst="roundRect">
            <a:avLst/>
          </a:prstGeom>
          <a:solidFill>
            <a:srgbClr val="131E32"/>
          </a:solidFill>
          <a:ln w="12700">
            <a:solidFill>
              <a:srgbClr val="25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98280" y="1508760"/>
            <a:ext cx="2194560" cy="4572000"/>
          </a:xfrm>
          <a:prstGeom prst="rect">
            <a:avLst/>
          </a:prstGeom>
          <a:noFill/>
        </p:spPr>
        <p:txBody>
          <a:bodyPr wrap="square">
            <a:spAutoFit/>
          </a:bodyPr>
          <a:lstStyle/>
          <a:p>
            <a:pPr>
              <a:defRPr sz="1300" b="1">
                <a:solidFill>
                  <a:srgbClr val="10B981"/>
                </a:solidFill>
              </a:defRPr>
            </a:pPr>
            <a:r>
              <a:t>STORAGE &amp; REPORTS</a:t>
            </a:r>
          </a:p>
          <a:p>
            <a:br/>
            <a:pPr>
              <a:defRPr sz="1050" b="1">
                <a:solidFill>
                  <a:srgbClr val="FFFFFF"/>
                </a:solidFill>
              </a:defRPr>
            </a:pPr>
            <a:r>
              <a:t>▸ Database ORM</a:t>
            </a:r>
          </a:p>
          <a:p>
            <a:pPr>
              <a:defRPr sz="950">
                <a:solidFill>
                  <a:srgbClr val="94A3B8"/>
                </a:solidFill>
              </a:defRPr>
            </a:pPr>
            <a:r>
              <a:t>SQLAlchemy (PostgreSQL / SQLite)</a:t>
            </a:r>
          </a:p>
          <a:p>
            <a:br/>
            <a:pPr>
              <a:defRPr sz="1050" b="1">
                <a:solidFill>
                  <a:srgbClr val="FFFFFF"/>
                </a:solidFill>
              </a:defRPr>
            </a:pPr>
            <a:r>
              <a:t>▸ PDF Generation</a:t>
            </a:r>
          </a:p>
          <a:p>
            <a:pPr>
              <a:defRPr sz="950">
                <a:solidFill>
                  <a:srgbClr val="94A3B8"/>
                </a:solidFill>
              </a:defRPr>
            </a:pPr>
            <a:r>
              <a:t>ReportLab Vector Engine</a:t>
            </a:r>
          </a:p>
          <a:p>
            <a:br/>
            <a:pPr>
              <a:defRPr sz="1050" b="1">
                <a:solidFill>
                  <a:srgbClr val="FFFFFF"/>
                </a:solidFill>
              </a:defRPr>
            </a:pPr>
            <a:r>
              <a:t>▸ Fallback PDF</a:t>
            </a:r>
          </a:p>
          <a:p>
            <a:pPr>
              <a:defRPr sz="950">
                <a:solidFill>
                  <a:srgbClr val="94A3B8"/>
                </a:solidFill>
              </a:defRPr>
            </a:pPr>
            <a:r>
              <a:t>WeasyPrint CSS Paged Media</a:t>
            </a:r>
          </a:p>
          <a:p>
            <a:br/>
            <a:pPr>
              <a:defRPr sz="1050" b="1">
                <a:solidFill>
                  <a:srgbClr val="FFFFFF"/>
                </a:solidFill>
              </a:defRPr>
            </a:pPr>
            <a:r>
              <a:t>▸ Cryptographic Seal</a:t>
            </a:r>
          </a:p>
          <a:p>
            <a:pPr>
              <a:defRPr sz="950">
                <a:solidFill>
                  <a:srgbClr val="94A3B8"/>
                </a:solidFill>
              </a:defRPr>
            </a:pPr>
            <a:r>
              <a:t>SHA-256 integrity verification</a:t>
            </a:r>
          </a:p>
          <a:p>
            <a:br/>
            <a:pPr>
              <a:defRPr sz="1050" b="1">
                <a:solidFill>
                  <a:srgbClr val="FFFFFF"/>
                </a:solidFill>
              </a:defRPr>
            </a:pPr>
            <a:r>
              <a:t>▸ PDF Security</a:t>
            </a:r>
          </a:p>
          <a:p>
            <a:pPr>
              <a:defRPr sz="950">
                <a:solidFill>
                  <a:srgbClr val="94A3B8"/>
                </a:solidFill>
              </a:defRPr>
            </a:pPr>
            <a:r>
              <a:t>Standard AES encryption support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a:spAutoFit/>
          </a:bodyPr>
          <a:lstStyle/>
          <a:p>
            <a:pPr>
              <a:defRPr sz="1000" b="1">
                <a:solidFill>
                  <a:srgbClr val="00D4FF"/>
                </a:solidFill>
                <a:latin typeface="Arial"/>
              </a:defRPr>
            </a:pPr>
            <a:r>
              <a:t>COMPETITIVE ADVANTAGE</a:t>
            </a:r>
          </a:p>
        </p:txBody>
      </p:sp>
      <p:sp>
        <p:nvSpPr>
          <p:cNvPr id="4" name="TextBox 3"/>
          <p:cNvSpPr txBox="1"/>
          <p:nvPr/>
        </p:nvSpPr>
        <p:spPr>
          <a:xfrm>
            <a:off x="731520" y="621792"/>
            <a:ext cx="9601200" cy="594360"/>
          </a:xfrm>
          <a:prstGeom prst="rect">
            <a:avLst/>
          </a:prstGeom>
          <a:noFill/>
        </p:spPr>
        <p:txBody>
          <a:bodyPr wrap="square">
            <a:spAutoFit/>
          </a:bodyPr>
          <a:lstStyle/>
          <a:p>
            <a:pPr>
              <a:defRPr sz="2200" b="1">
                <a:solidFill>
                  <a:srgbClr val="FFFFFF"/>
                </a:solidFill>
                <a:latin typeface="Arial"/>
              </a:defRPr>
            </a:pPr>
            <a:r>
              <a:t>Evidence-Backed Technical Differentiators</a:t>
            </a:r>
          </a:p>
        </p:txBody>
      </p:sp>
      <p:sp>
        <p:nvSpPr>
          <p:cNvPr id="5" name="TextBox 4"/>
          <p:cNvSpPr txBox="1"/>
          <p:nvPr/>
        </p:nvSpPr>
        <p:spPr>
          <a:xfrm>
            <a:off x="8686800" y="365760"/>
            <a:ext cx="2743200" cy="457200"/>
          </a:xfrm>
          <a:prstGeom prst="rect">
            <a:avLst/>
          </a:prstGeom>
          <a:noFill/>
        </p:spPr>
        <p:txBody>
          <a:bodyPr wrap="none">
            <a:spAutoFit/>
          </a:bodyPr>
          <a:lstStyle/>
          <a:p>
            <a:pPr algn="r">
              <a:defRPr sz="1100" b="1">
                <a:solidFill>
                  <a:srgbClr val="64748B"/>
                </a:solidFill>
                <a:latin typeface="Arial"/>
              </a:defRPr>
            </a:pPr>
            <a:r>
              <a:t>EPINOIA '26  |  07 / 09</a:t>
            </a:r>
          </a:p>
        </p:txBody>
      </p:sp>
      <p:sp>
        <p:nvSpPr>
          <p:cNvPr id="6" name="Rounded Rectangle 5"/>
          <p:cNvSpPr/>
          <p:nvPr/>
        </p:nvSpPr>
        <p:spPr>
          <a:xfrm>
            <a:off x="731520" y="1371600"/>
            <a:ext cx="5120640" cy="2286000"/>
          </a:xfrm>
          <a:prstGeom prst="roundRect">
            <a:avLst/>
          </a:prstGeom>
          <a:solidFill>
            <a:srgbClr val="131E32"/>
          </a:solidFill>
          <a:ln w="12700">
            <a:solidFill>
              <a:srgbClr val="25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4754880" cy="2011680"/>
          </a:xfrm>
          <a:prstGeom prst="rect">
            <a:avLst/>
          </a:prstGeom>
          <a:noFill/>
        </p:spPr>
        <p:txBody>
          <a:bodyPr wrap="square">
            <a:spAutoFit/>
          </a:bodyPr>
          <a:lstStyle/>
          <a:p>
            <a:pPr>
              <a:defRPr sz="1300" b="1">
                <a:solidFill>
                  <a:srgbClr val="00D4FF"/>
                </a:solidFill>
              </a:defRPr>
            </a:pPr>
            <a:r>
              <a:t>1. ZERO-DISRUPTION WORKFLOW</a:t>
            </a:r>
          </a:p>
          <a:p>
            <a:br/>
            <a:pPr>
              <a:defRPr sz="1050">
                <a:solidFill>
                  <a:srgbClr val="94A3B8"/>
                </a:solidFill>
              </a:defRPr>
            </a:pPr>
            <a:r>
              <a:t>Conventional forensic tools require custom hardware or expensive proprietary database formats. TraceX works directly with raw Excel dumps, CDR text files, and bank statements that officers already receive daily.</a:t>
            </a:r>
          </a:p>
        </p:txBody>
      </p:sp>
      <p:sp>
        <p:nvSpPr>
          <p:cNvPr id="8" name="Rounded Rectangle 7"/>
          <p:cNvSpPr/>
          <p:nvPr/>
        </p:nvSpPr>
        <p:spPr>
          <a:xfrm>
            <a:off x="6263640" y="1371600"/>
            <a:ext cx="5120640" cy="2286000"/>
          </a:xfrm>
          <a:prstGeom prst="roundRect">
            <a:avLst/>
          </a:prstGeom>
          <a:solidFill>
            <a:srgbClr val="131E32"/>
          </a:solidFill>
          <a:ln w="12700">
            <a:solidFill>
              <a:srgbClr val="25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508760"/>
            <a:ext cx="4754880" cy="2011680"/>
          </a:xfrm>
          <a:prstGeom prst="rect">
            <a:avLst/>
          </a:prstGeom>
          <a:noFill/>
        </p:spPr>
        <p:txBody>
          <a:bodyPr wrap="square">
            <a:spAutoFit/>
          </a:bodyPr>
          <a:lstStyle/>
          <a:p>
            <a:pPr>
              <a:defRPr sz="1300" b="1">
                <a:solidFill>
                  <a:srgbClr val="10B981"/>
                </a:solidFill>
              </a:defRPr>
            </a:pPr>
            <a:r>
              <a:t>2. DUAL-ENGINE RESILIENT AI (NO HALLUCINATIONS)</a:t>
            </a:r>
          </a:p>
          <a:p>
            <a:br/>
            <a:pPr>
              <a:defRPr sz="1050">
                <a:solidFill>
                  <a:srgbClr val="94A3B8"/>
                </a:solidFill>
              </a:defRPr>
            </a:pPr>
            <a:r>
              <a:t>Most AI prototypes break when APIs fail or invent fake case facts. TraceX uses strict RAG prompting where the LLM is constrained to case data, backed by a 100% offline deterministic rule engine fallback for court reliability.</a:t>
            </a:r>
          </a:p>
        </p:txBody>
      </p:sp>
      <p:sp>
        <p:nvSpPr>
          <p:cNvPr id="10" name="Rounded Rectangle 9"/>
          <p:cNvSpPr/>
          <p:nvPr/>
        </p:nvSpPr>
        <p:spPr>
          <a:xfrm>
            <a:off x="731520" y="3886200"/>
            <a:ext cx="5120640" cy="2286000"/>
          </a:xfrm>
          <a:prstGeom prst="roundRect">
            <a:avLst/>
          </a:prstGeom>
          <a:solidFill>
            <a:srgbClr val="131E32"/>
          </a:solidFill>
          <a:ln w="12700">
            <a:solidFill>
              <a:srgbClr val="25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023360"/>
            <a:ext cx="4754880" cy="2011680"/>
          </a:xfrm>
          <a:prstGeom prst="rect">
            <a:avLst/>
          </a:prstGeom>
          <a:noFill/>
        </p:spPr>
        <p:txBody>
          <a:bodyPr wrap="square">
            <a:spAutoFit/>
          </a:bodyPr>
          <a:lstStyle/>
          <a:p>
            <a:pPr>
              <a:defRPr sz="1300" b="1">
                <a:solidFill>
                  <a:srgbClr val="818CF8"/>
                </a:solidFill>
              </a:defRPr>
            </a:pPr>
            <a:r>
              <a:t>3. CROSS-CASE SYNDICATE DETECTION</a:t>
            </a:r>
          </a:p>
          <a:p>
            <a:br/>
            <a:pPr>
              <a:defRPr sz="1050">
                <a:solidFill>
                  <a:srgbClr val="94A3B8"/>
                </a:solidFill>
              </a:defRPr>
            </a:pPr>
            <a:r>
              <a:t>While standard police tools analyze cases in isolation, TraceX automatically correlates entities across different FIRs to reveal multi-district mule rings, shared phone numbers, and common infrastructure.</a:t>
            </a:r>
          </a:p>
        </p:txBody>
      </p:sp>
      <p:sp>
        <p:nvSpPr>
          <p:cNvPr id="12" name="Rounded Rectangle 11"/>
          <p:cNvSpPr/>
          <p:nvPr/>
        </p:nvSpPr>
        <p:spPr>
          <a:xfrm>
            <a:off x="6263640" y="3886200"/>
            <a:ext cx="5120640" cy="2286000"/>
          </a:xfrm>
          <a:prstGeom prst="roundRect">
            <a:avLst/>
          </a:prstGeom>
          <a:solidFill>
            <a:srgbClr val="131E32"/>
          </a:solidFill>
          <a:ln w="12700">
            <a:solidFill>
              <a:srgbClr val="25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4023360"/>
            <a:ext cx="4754880" cy="2011680"/>
          </a:xfrm>
          <a:prstGeom prst="rect">
            <a:avLst/>
          </a:prstGeom>
          <a:noFill/>
        </p:spPr>
        <p:txBody>
          <a:bodyPr wrap="square">
            <a:spAutoFit/>
          </a:bodyPr>
          <a:lstStyle/>
          <a:p>
            <a:pPr>
              <a:defRPr sz="1300" b="1">
                <a:solidFill>
                  <a:srgbClr val="F59E0B"/>
                </a:solidFill>
              </a:defRPr>
            </a:pPr>
            <a:r>
              <a:t>4. COURT-READY STATUTORY DIRECTIVES</a:t>
            </a:r>
          </a:p>
          <a:p>
            <a:br/>
            <a:pPr>
              <a:defRPr sz="1050">
                <a:solidFill>
                  <a:srgbClr val="94A3B8"/>
                </a:solidFill>
              </a:defRPr>
            </a:pPr>
            <a:r>
              <a:t>TraceX doesn't just show visual charts; it automates the legal action. Generating Section 91 CrPC and Section 69A IT Act orders with SHA-256 hashes and password encryption transforms analytical insight into immediate law enforcement action.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a:spAutoFit/>
          </a:bodyPr>
          <a:lstStyle/>
          <a:p>
            <a:pPr>
              <a:defRPr sz="1000" b="1">
                <a:solidFill>
                  <a:srgbClr val="00D4FF"/>
                </a:solidFill>
                <a:latin typeface="Arial"/>
              </a:defRPr>
            </a:pPr>
            <a:r>
              <a:t>REAL-WORLD IMPACT &amp; ROADMAP</a:t>
            </a:r>
          </a:p>
        </p:txBody>
      </p:sp>
      <p:sp>
        <p:nvSpPr>
          <p:cNvPr id="4" name="TextBox 3"/>
          <p:cNvSpPr txBox="1"/>
          <p:nvPr/>
        </p:nvSpPr>
        <p:spPr>
          <a:xfrm>
            <a:off x="731520" y="621792"/>
            <a:ext cx="9601200" cy="594360"/>
          </a:xfrm>
          <a:prstGeom prst="rect">
            <a:avLst/>
          </a:prstGeom>
          <a:noFill/>
        </p:spPr>
        <p:txBody>
          <a:bodyPr wrap="square">
            <a:spAutoFit/>
          </a:bodyPr>
          <a:lstStyle/>
          <a:p>
            <a:pPr>
              <a:defRPr sz="2200" b="1">
                <a:solidFill>
                  <a:srgbClr val="FFFFFF"/>
                </a:solidFill>
                <a:latin typeface="Arial"/>
              </a:defRPr>
            </a:pPr>
            <a:r>
              <a:t>Measurable Impact &amp; Future Growth</a:t>
            </a:r>
          </a:p>
        </p:txBody>
      </p:sp>
      <p:sp>
        <p:nvSpPr>
          <p:cNvPr id="5" name="TextBox 4"/>
          <p:cNvSpPr txBox="1"/>
          <p:nvPr/>
        </p:nvSpPr>
        <p:spPr>
          <a:xfrm>
            <a:off x="8686800" y="365760"/>
            <a:ext cx="2743200" cy="457200"/>
          </a:xfrm>
          <a:prstGeom prst="rect">
            <a:avLst/>
          </a:prstGeom>
          <a:noFill/>
        </p:spPr>
        <p:txBody>
          <a:bodyPr wrap="none">
            <a:spAutoFit/>
          </a:bodyPr>
          <a:lstStyle/>
          <a:p>
            <a:pPr algn="r">
              <a:defRPr sz="1100" b="1">
                <a:solidFill>
                  <a:srgbClr val="64748B"/>
                </a:solidFill>
                <a:latin typeface="Arial"/>
              </a:defRPr>
            </a:pPr>
            <a:r>
              <a:t>EPINOIA '26  |  08 / 09</a:t>
            </a:r>
          </a:p>
        </p:txBody>
      </p:sp>
      <p:sp>
        <p:nvSpPr>
          <p:cNvPr id="6" name="Rounded Rectangle 5"/>
          <p:cNvSpPr/>
          <p:nvPr/>
        </p:nvSpPr>
        <p:spPr>
          <a:xfrm>
            <a:off x="731520" y="1371600"/>
            <a:ext cx="5120640" cy="4846320"/>
          </a:xfrm>
          <a:prstGeom prst="roundRect">
            <a:avLst/>
          </a:prstGeom>
          <a:solidFill>
            <a:srgbClr val="131E32"/>
          </a:solidFill>
          <a:ln w="12700">
            <a:solidFill>
              <a:srgbClr val="25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4754880" cy="4572000"/>
          </a:xfrm>
          <a:prstGeom prst="rect">
            <a:avLst/>
          </a:prstGeom>
          <a:noFill/>
        </p:spPr>
        <p:txBody>
          <a:bodyPr wrap="square">
            <a:spAutoFit/>
          </a:bodyPr>
          <a:lstStyle/>
          <a:p>
            <a:pPr>
              <a:defRPr sz="1400" b="1">
                <a:solidFill>
                  <a:srgbClr val="00D4FF"/>
                </a:solidFill>
              </a:defRPr>
            </a:pPr>
            <a:r>
              <a:t>MEASURABLE REAL-WORLD IMPACT</a:t>
            </a:r>
          </a:p>
          <a:p>
            <a:br/>
            <a:pPr>
              <a:defRPr sz="1100" b="1">
                <a:solidFill>
                  <a:srgbClr val="FFFFFF"/>
                </a:solidFill>
              </a:defRPr>
            </a:pPr>
            <a:r>
              <a:t>▸ For Investigating Officers (IOs)</a:t>
            </a:r>
          </a:p>
          <a:p>
            <a:pPr>
              <a:defRPr sz="1000">
                <a:solidFill>
                  <a:srgbClr val="94A3B8"/>
                </a:solidFill>
              </a:defRPr>
            </a:pPr>
            <a:r>
              <a:t>Cuts evidence parsing and spreadsheet matching from 48+ hours to under 3 minutes, accelerating triage.</a:t>
            </a:r>
          </a:p>
          <a:p>
            <a:br/>
            <a:pPr>
              <a:defRPr sz="1100" b="1">
                <a:solidFill>
                  <a:srgbClr val="FFFFFF"/>
                </a:solidFill>
              </a:defRPr>
            </a:pPr>
            <a:r>
              <a:t>▸ For Cyber Fraud Victims</a:t>
            </a:r>
          </a:p>
          <a:p>
            <a:pPr>
              <a:defRPr sz="1000">
                <a:solidFill>
                  <a:srgbClr val="94A3B8"/>
                </a:solidFill>
              </a:defRPr>
            </a:pPr>
            <a:r>
              <a:t>Immediate identification of destination accounts allows freezing funds during the Golden Hour before cash is laundered.</a:t>
            </a:r>
          </a:p>
          <a:p>
            <a:br/>
            <a:pPr>
              <a:defRPr sz="1100" b="1">
                <a:solidFill>
                  <a:srgbClr val="FFFFFF"/>
                </a:solidFill>
              </a:defRPr>
            </a:pPr>
            <a:r>
              <a:t>▸ For Police Leadership &amp; Courtrooms</a:t>
            </a:r>
          </a:p>
          <a:p>
            <a:pPr>
              <a:defRPr sz="1000">
                <a:solidFill>
                  <a:srgbClr val="94A3B8"/>
                </a:solidFill>
              </a:defRPr>
            </a:pPr>
            <a:r>
              <a:t>Provides standardized, tamper-evident forensic dossiers with SHA-256 hash verification for charge sheets.</a:t>
            </a:r>
          </a:p>
          <a:p>
            <a:br/>
            <a:pPr>
              <a:defRPr sz="1100" b="1">
                <a:solidFill>
                  <a:srgbClr val="FFFFFF"/>
                </a:solidFill>
              </a:defRPr>
            </a:pPr>
            <a:r>
              <a:t>▸ For State Cyber Coordination (I4C)</a:t>
            </a:r>
          </a:p>
          <a:p>
            <a:pPr>
              <a:defRPr sz="1000">
                <a:solidFill>
                  <a:srgbClr val="94A3B8"/>
                </a:solidFill>
              </a:defRPr>
            </a:pPr>
            <a:r>
              <a:t>Reveals statewide criminal syndicates operating across city and district jurisdictions.</a:t>
            </a:r>
          </a:p>
        </p:txBody>
      </p:sp>
      <p:sp>
        <p:nvSpPr>
          <p:cNvPr id="8" name="Rounded Rectangle 7"/>
          <p:cNvSpPr/>
          <p:nvPr/>
        </p:nvSpPr>
        <p:spPr>
          <a:xfrm>
            <a:off x="6263640" y="1371600"/>
            <a:ext cx="5166360" cy="4846320"/>
          </a:xfrm>
          <a:prstGeom prst="roundRect">
            <a:avLst/>
          </a:prstGeom>
          <a:solidFill>
            <a:srgbClr val="131E32"/>
          </a:solidFill>
          <a:ln w="12700">
            <a:solidFill>
              <a:srgbClr val="25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508760"/>
            <a:ext cx="4800600" cy="4572000"/>
          </a:xfrm>
          <a:prstGeom prst="rect">
            <a:avLst/>
          </a:prstGeom>
          <a:noFill/>
        </p:spPr>
        <p:txBody>
          <a:bodyPr wrap="square">
            <a:spAutoFit/>
          </a:bodyPr>
          <a:lstStyle/>
          <a:p>
            <a:pPr>
              <a:defRPr sz="1400" b="1">
                <a:solidFill>
                  <a:srgbClr val="10B981"/>
                </a:solidFill>
              </a:defRPr>
            </a:pPr>
            <a:r>
              <a:t>SCALABILITY &amp; FUTURE ROADMAP</a:t>
            </a:r>
          </a:p>
          <a:p>
            <a:br/>
            <a:pPr>
              <a:defRPr sz="1100" b="1">
                <a:solidFill>
                  <a:srgbClr val="38BDF8"/>
                </a:solidFill>
              </a:defRPr>
            </a:pPr>
            <a:r>
              <a:t>▸ CURRENTLY IMPLEMENTED (v1.0 Ready)</a:t>
            </a:r>
          </a:p>
          <a:p>
            <a:pPr>
              <a:defRPr sz="1000">
                <a:solidFill>
                  <a:srgbClr val="94A3B8"/>
                </a:solidFill>
              </a:defRPr>
            </a:pPr>
            <a:r>
              <a:t>Full ingestion, multi-hop graph, scam-profile risk scoring, ReportLab statutory PDFs, dual UX, AI chat.</a:t>
            </a:r>
          </a:p>
          <a:p>
            <a:br/>
            <a:pPr>
              <a:defRPr sz="1100" b="1">
                <a:solidFill>
                  <a:srgbClr val="38BDF8"/>
                </a:solidFill>
              </a:defRPr>
            </a:pPr>
            <a:r>
              <a:t>▸ PHASE 2: NCRP / 1930 API INTEGRATION</a:t>
            </a:r>
          </a:p>
          <a:p>
            <a:pPr>
              <a:defRPr sz="1000">
                <a:solidFill>
                  <a:srgbClr val="94A3B8"/>
                </a:solidFill>
              </a:defRPr>
            </a:pPr>
            <a:r>
              <a:t>Direct webhook connector to National Cyber Crime Reporting Portal for real-time complaint ingestion.</a:t>
            </a:r>
          </a:p>
          <a:p>
            <a:br/>
            <a:pPr>
              <a:defRPr sz="1100" b="1">
                <a:solidFill>
                  <a:srgbClr val="38BDF8"/>
                </a:solidFill>
              </a:defRPr>
            </a:pPr>
            <a:r>
              <a:t>▸ PHASE 3: TELECOM TOWER STREAMING</a:t>
            </a:r>
          </a:p>
          <a:p>
            <a:pPr>
              <a:defRPr sz="1000">
                <a:solidFill>
                  <a:srgbClr val="94A3B8"/>
                </a:solidFill>
              </a:defRPr>
            </a:pPr>
            <a:r>
              <a:t>Real-time cell-tower triangulation and automated Subscriber Detail Record (SDR) lookup via telecom APIs.</a:t>
            </a:r>
          </a:p>
          <a:p>
            <a:br/>
            <a:pPr>
              <a:defRPr sz="1100" b="1">
                <a:solidFill>
                  <a:srgbClr val="38BDF8"/>
                </a:solidFill>
              </a:defRPr>
            </a:pPr>
            <a:r>
              <a:t>▸ PHASE 4: BLOCKCHAIN / CRYPTO TRACING</a:t>
            </a:r>
          </a:p>
          <a:p>
            <a:pPr>
              <a:defRPr sz="1000">
                <a:solidFill>
                  <a:srgbClr val="94A3B8"/>
                </a:solidFill>
              </a:defRPr>
            </a:pPr>
            <a:r>
              <a:t>Automated tracking for crypto-wallet hops and P2P crypto exchanges used in international scam laundering.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a:spAutoFit/>
          </a:bodyPr>
          <a:lstStyle/>
          <a:p>
            <a:pPr>
              <a:defRPr sz="1000" b="1">
                <a:solidFill>
                  <a:srgbClr val="00D4FF"/>
                </a:solidFill>
                <a:latin typeface="Arial"/>
              </a:defRPr>
            </a:pPr>
            <a:r>
              <a:t>CONCLUSION &amp; PITCH SUMMARY</a:t>
            </a:r>
          </a:p>
        </p:txBody>
      </p:sp>
      <p:sp>
        <p:nvSpPr>
          <p:cNvPr id="4" name="TextBox 3"/>
          <p:cNvSpPr txBox="1"/>
          <p:nvPr/>
        </p:nvSpPr>
        <p:spPr>
          <a:xfrm>
            <a:off x="731520" y="621792"/>
            <a:ext cx="9601200" cy="594360"/>
          </a:xfrm>
          <a:prstGeom prst="rect">
            <a:avLst/>
          </a:prstGeom>
          <a:noFill/>
        </p:spPr>
        <p:txBody>
          <a:bodyPr wrap="square">
            <a:spAutoFit/>
          </a:bodyPr>
          <a:lstStyle/>
          <a:p>
            <a:pPr>
              <a:defRPr sz="2200" b="1">
                <a:solidFill>
                  <a:srgbClr val="FFFFFF"/>
                </a:solidFill>
                <a:latin typeface="Arial"/>
              </a:defRPr>
            </a:pPr>
            <a:r>
              <a:t>TraceX: Leveling the Playing Field in Cyber Warfare</a:t>
            </a:r>
          </a:p>
        </p:txBody>
      </p:sp>
      <p:sp>
        <p:nvSpPr>
          <p:cNvPr id="5" name="TextBox 4"/>
          <p:cNvSpPr txBox="1"/>
          <p:nvPr/>
        </p:nvSpPr>
        <p:spPr>
          <a:xfrm>
            <a:off x="8686800" y="365760"/>
            <a:ext cx="2743200" cy="457200"/>
          </a:xfrm>
          <a:prstGeom prst="rect">
            <a:avLst/>
          </a:prstGeom>
          <a:noFill/>
        </p:spPr>
        <p:txBody>
          <a:bodyPr wrap="none">
            <a:spAutoFit/>
          </a:bodyPr>
          <a:lstStyle/>
          <a:p>
            <a:pPr algn="r">
              <a:defRPr sz="1100" b="1">
                <a:solidFill>
                  <a:srgbClr val="64748B"/>
                </a:solidFill>
                <a:latin typeface="Arial"/>
              </a:defRPr>
            </a:pPr>
            <a:r>
              <a:t>EPINOIA '26  |  09 / 09</a:t>
            </a:r>
          </a:p>
        </p:txBody>
      </p:sp>
      <p:sp>
        <p:nvSpPr>
          <p:cNvPr id="6" name="Rounded Rectangle 5"/>
          <p:cNvSpPr/>
          <p:nvPr/>
        </p:nvSpPr>
        <p:spPr>
          <a:xfrm>
            <a:off x="731520" y="1371600"/>
            <a:ext cx="10725912" cy="2011680"/>
          </a:xfrm>
          <a:prstGeom prst="roundRect">
            <a:avLst/>
          </a:prstGeom>
          <a:solidFill>
            <a:srgbClr val="0F172A"/>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08760"/>
            <a:ext cx="10149840" cy="1737360"/>
          </a:xfrm>
          <a:prstGeom prst="rect">
            <a:avLst/>
          </a:prstGeom>
          <a:noFill/>
        </p:spPr>
        <p:txBody>
          <a:bodyPr wrap="square">
            <a:spAutoFit/>
          </a:bodyPr>
          <a:lstStyle/>
          <a:p>
            <a:pPr>
              <a:defRPr sz="1300" b="1">
                <a:solidFill>
                  <a:srgbClr val="00D4FF"/>
                </a:solidFill>
              </a:defRPr>
            </a:pPr>
            <a:r>
              <a:t>THE SYNTHESIS: PROBLEM  ➔  SOLUTION  ➔  TECH  ➔  IMPACT</a:t>
            </a:r>
          </a:p>
          <a:p>
            <a:br/>
            <a:pPr>
              <a:defRPr sz="1400" i="1" b="1">
                <a:solidFill>
                  <a:srgbClr val="FFFFFF"/>
                </a:solidFill>
              </a:defRPr>
            </a:pPr>
            <a:r>
              <a:t>"Cyber criminals operate at machine speed. Law enforcement can no longer investigate at human speed. TraceX transforms raw, disconnected evidence into immediate, court-admissible legal action within the Golden Hour."</a:t>
            </a:r>
          </a:p>
        </p:txBody>
      </p:sp>
      <p:sp>
        <p:nvSpPr>
          <p:cNvPr id="8" name="Rounded Rectangle 7"/>
          <p:cNvSpPr/>
          <p:nvPr/>
        </p:nvSpPr>
        <p:spPr>
          <a:xfrm>
            <a:off x="731520" y="3749039"/>
            <a:ext cx="3328416" cy="2468880"/>
          </a:xfrm>
          <a:prstGeom prst="roundRect">
            <a:avLst/>
          </a:prstGeom>
          <a:solidFill>
            <a:srgbClr val="131E32"/>
          </a:solidFill>
          <a:ln w="12700">
            <a:solidFill>
              <a:srgbClr val="25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886199"/>
            <a:ext cx="3054096" cy="2194560"/>
          </a:xfrm>
          <a:prstGeom prst="rect">
            <a:avLst/>
          </a:prstGeom>
          <a:noFill/>
        </p:spPr>
        <p:txBody>
          <a:bodyPr wrap="square">
            <a:spAutoFit/>
          </a:bodyPr>
          <a:lstStyle/>
          <a:p>
            <a:pPr>
              <a:defRPr sz="1300" b="1">
                <a:solidFill>
                  <a:srgbClr val="10B981"/>
                </a:solidFill>
              </a:defRPr>
            </a:pPr>
            <a:r>
              <a:t>LIVE DEPLOYMENT</a:t>
            </a:r>
          </a:p>
          <a:p>
            <a:br/>
            <a:pPr>
              <a:defRPr sz="1000">
                <a:solidFill>
                  <a:srgbClr val="FFFFFF"/>
                </a:solidFill>
              </a:defRPr>
            </a:pPr>
            <a:r>
              <a:t>• URL: https://tracex-frontend-3.onrender.com/</a:t>
            </a:r>
            <a:br/>
            <a:br/>
            <a:r>
              <a:t>• Test Credentials:</a:t>
            </a:r>
            <a:br/>
            <a:r>
              <a:t>  Badge ID: MP-IO-4471</a:t>
            </a:r>
            <a:br/>
            <a:r>
              <a:t>  Password: demo1234</a:t>
            </a:r>
            <a:br/>
            <a:br/>
            <a:r>
              <a:t>• Fully interactive demo data pre-seeded.</a:t>
            </a:r>
          </a:p>
        </p:txBody>
      </p:sp>
      <p:sp>
        <p:nvSpPr>
          <p:cNvPr id="10" name="Rounded Rectangle 9"/>
          <p:cNvSpPr/>
          <p:nvPr/>
        </p:nvSpPr>
        <p:spPr>
          <a:xfrm>
            <a:off x="4425696" y="3749039"/>
            <a:ext cx="3328416" cy="2468880"/>
          </a:xfrm>
          <a:prstGeom prst="roundRect">
            <a:avLst/>
          </a:prstGeom>
          <a:solidFill>
            <a:srgbClr val="131E32"/>
          </a:solidFill>
          <a:ln w="12700">
            <a:solidFill>
              <a:srgbClr val="25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62856" y="3886199"/>
            <a:ext cx="3054096" cy="2194560"/>
          </a:xfrm>
          <a:prstGeom prst="rect">
            <a:avLst/>
          </a:prstGeom>
          <a:noFill/>
        </p:spPr>
        <p:txBody>
          <a:bodyPr wrap="square">
            <a:spAutoFit/>
          </a:bodyPr>
          <a:lstStyle/>
          <a:p>
            <a:pPr>
              <a:defRPr sz="1300" b="1">
                <a:solidFill>
                  <a:srgbClr val="00D4FF"/>
                </a:solidFill>
              </a:defRPr>
            </a:pPr>
            <a:r>
              <a:t>REPOSITORY &amp; VIDEO</a:t>
            </a:r>
          </a:p>
          <a:p>
            <a:br/>
            <a:pPr>
              <a:defRPr sz="1000">
                <a:solidFill>
                  <a:srgbClr val="FFFFFF"/>
                </a:solidFill>
              </a:defRPr>
            </a:pPr>
            <a:r>
              <a:t>• GitHub Repository:</a:t>
            </a:r>
            <a:br/>
            <a:r>
              <a:t>  github.com/Krishnaa-21/tracex</a:t>
            </a:r>
            <a:br/>
            <a:br/>
            <a:r>
              <a:t>• Video Demonstration:</a:t>
            </a:r>
            <a:br/>
            <a:r>
              <a:t>  youtu.be/oUuxdL-CVBA</a:t>
            </a:r>
            <a:br/>
            <a:br/>
            <a:r>
              <a:t>• Clean commits, test suites &amp; documentation.</a:t>
            </a:r>
          </a:p>
        </p:txBody>
      </p:sp>
      <p:sp>
        <p:nvSpPr>
          <p:cNvPr id="12" name="Rounded Rectangle 11"/>
          <p:cNvSpPr/>
          <p:nvPr/>
        </p:nvSpPr>
        <p:spPr>
          <a:xfrm>
            <a:off x="8119872" y="3749039"/>
            <a:ext cx="3328416" cy="2468880"/>
          </a:xfrm>
          <a:prstGeom prst="roundRect">
            <a:avLst/>
          </a:prstGeom>
          <a:solidFill>
            <a:srgbClr val="131E32"/>
          </a:solidFill>
          <a:ln w="12700">
            <a:solidFill>
              <a:srgbClr val="25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57032" y="3886199"/>
            <a:ext cx="3054096" cy="2194560"/>
          </a:xfrm>
          <a:prstGeom prst="rect">
            <a:avLst/>
          </a:prstGeom>
          <a:noFill/>
        </p:spPr>
        <p:txBody>
          <a:bodyPr wrap="square">
            <a:spAutoFit/>
          </a:bodyPr>
          <a:lstStyle/>
          <a:p>
            <a:pPr>
              <a:defRPr sz="1300" b="1">
                <a:solidFill>
                  <a:srgbClr val="818CF8"/>
                </a:solidFill>
              </a:defRPr>
            </a:pPr>
            <a:r>
              <a:t>SUBMISSION CONTACT</a:t>
            </a:r>
          </a:p>
          <a:p>
            <a:br/>
            <a:pPr>
              <a:defRPr sz="1000">
                <a:solidFill>
                  <a:srgbClr val="FFFFFF"/>
                </a:solidFill>
              </a:defRPr>
            </a:pPr>
            <a:r>
              <a:t>• Team: Thunderbytes</a:t>
            </a:r>
            <a:br/>
            <a:r>
              <a:t>• Leader: Ankit Tank</a:t>
            </a:r>
            <a:br/>
            <a:r>
              <a:t>• Phone: +91 9977577014</a:t>
            </a:r>
            <a:br/>
            <a:r>
              <a:t>• Email: ankittank9977@gmail.com</a:t>
            </a:r>
            <a:br/>
            <a:r>
              <a:t>• Institute: SVVV, Indore</a:t>
            </a:r>
            <a:br/>
            <a:br/>
            <a:r>
              <a:t>Submitted for EPINOIA 2026, IIM Indore.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